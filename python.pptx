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43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4007" y="96011"/>
            <a:ext cx="697992" cy="6614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27532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12192000" y="0"/>
                </a:moveTo>
                <a:lnTo>
                  <a:pt x="0" y="0"/>
                </a:lnTo>
                <a:lnTo>
                  <a:pt x="0" y="60960"/>
                </a:lnTo>
                <a:lnTo>
                  <a:pt x="12192000" y="609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27532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0" y="60960"/>
                </a:moveTo>
                <a:lnTo>
                  <a:pt x="12192000" y="60960"/>
                </a:lnTo>
                <a:lnTo>
                  <a:pt x="12192000" y="0"/>
                </a:lnTo>
                <a:lnTo>
                  <a:pt x="0" y="0"/>
                </a:lnTo>
                <a:lnTo>
                  <a:pt x="0" y="60960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096" y="6330817"/>
            <a:ext cx="2438902" cy="26755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79690"/>
            <a:ext cx="12192000" cy="178435"/>
          </a:xfrm>
          <a:custGeom>
            <a:avLst/>
            <a:gdLst/>
            <a:ahLst/>
            <a:cxnLst/>
            <a:rect l="l" t="t" r="r" b="b"/>
            <a:pathLst>
              <a:path w="12192000" h="178434">
                <a:moveTo>
                  <a:pt x="12192000" y="0"/>
                </a:moveTo>
                <a:lnTo>
                  <a:pt x="0" y="0"/>
                </a:lnTo>
                <a:lnTo>
                  <a:pt x="0" y="178308"/>
                </a:lnTo>
                <a:lnTo>
                  <a:pt x="12192000" y="1783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6679690"/>
            <a:ext cx="12192000" cy="178435"/>
          </a:xfrm>
          <a:custGeom>
            <a:avLst/>
            <a:gdLst/>
            <a:ahLst/>
            <a:cxnLst/>
            <a:rect l="l" t="t" r="r" b="b"/>
            <a:pathLst>
              <a:path w="12192000" h="178434">
                <a:moveTo>
                  <a:pt x="0" y="178308"/>
                </a:moveTo>
                <a:lnTo>
                  <a:pt x="12192000" y="178308"/>
                </a:lnTo>
                <a:lnTo>
                  <a:pt x="12192000" y="0"/>
                </a:lnTo>
                <a:lnTo>
                  <a:pt x="0" y="0"/>
                </a:lnTo>
                <a:lnTo>
                  <a:pt x="0" y="178308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490" y="2854238"/>
            <a:ext cx="199320" cy="18720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692" y="2631948"/>
            <a:ext cx="499122" cy="67741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8704" y="2631948"/>
            <a:ext cx="496062" cy="67741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668" y="2631948"/>
            <a:ext cx="1117854" cy="67741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6339" y="2694432"/>
            <a:ext cx="412254" cy="5707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94007" y="96011"/>
            <a:ext cx="697992" cy="6614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27532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12192000" y="0"/>
                </a:moveTo>
                <a:lnTo>
                  <a:pt x="0" y="0"/>
                </a:lnTo>
                <a:lnTo>
                  <a:pt x="0" y="60960"/>
                </a:lnTo>
                <a:lnTo>
                  <a:pt x="12192000" y="609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27532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0" y="60960"/>
                </a:moveTo>
                <a:lnTo>
                  <a:pt x="12192000" y="60960"/>
                </a:lnTo>
                <a:lnTo>
                  <a:pt x="12192000" y="0"/>
                </a:lnTo>
                <a:lnTo>
                  <a:pt x="0" y="0"/>
                </a:lnTo>
                <a:lnTo>
                  <a:pt x="0" y="60960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53096" y="6330817"/>
            <a:ext cx="2438902" cy="26755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79690"/>
            <a:ext cx="12192000" cy="178435"/>
          </a:xfrm>
          <a:custGeom>
            <a:avLst/>
            <a:gdLst/>
            <a:ahLst/>
            <a:cxnLst/>
            <a:rect l="l" t="t" r="r" b="b"/>
            <a:pathLst>
              <a:path w="12192000" h="178434">
                <a:moveTo>
                  <a:pt x="12192000" y="0"/>
                </a:moveTo>
                <a:lnTo>
                  <a:pt x="0" y="0"/>
                </a:lnTo>
                <a:lnTo>
                  <a:pt x="0" y="178308"/>
                </a:lnTo>
                <a:lnTo>
                  <a:pt x="12192000" y="1783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6679690"/>
            <a:ext cx="12192000" cy="178435"/>
          </a:xfrm>
          <a:custGeom>
            <a:avLst/>
            <a:gdLst/>
            <a:ahLst/>
            <a:cxnLst/>
            <a:rect l="l" t="t" r="r" b="b"/>
            <a:pathLst>
              <a:path w="12192000" h="178434">
                <a:moveTo>
                  <a:pt x="0" y="178308"/>
                </a:moveTo>
                <a:lnTo>
                  <a:pt x="12192000" y="178308"/>
                </a:lnTo>
                <a:lnTo>
                  <a:pt x="12192000" y="0"/>
                </a:lnTo>
                <a:lnTo>
                  <a:pt x="0" y="0"/>
                </a:lnTo>
                <a:lnTo>
                  <a:pt x="0" y="178308"/>
                </a:lnTo>
                <a:close/>
              </a:path>
            </a:pathLst>
          </a:custGeom>
          <a:ln w="12192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574" y="1016889"/>
            <a:ext cx="2827020" cy="67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7119" y="1286564"/>
            <a:ext cx="5922645" cy="1529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81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93690"/>
            <a:ext cx="12191999" cy="246430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675759" y="1408557"/>
            <a:ext cx="284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Georgia"/>
                <a:cs typeface="Georgia"/>
              </a:rPr>
              <a:t>Basics of Python</a:t>
            </a:r>
            <a:endParaRPr spc="-1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8975" y="2318130"/>
            <a:ext cx="3195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000099"/>
                </a:solidFill>
                <a:latin typeface="Calibri"/>
                <a:cs typeface="Calibri"/>
              </a:rPr>
              <a:t>Summer</a:t>
            </a:r>
            <a:r>
              <a:rPr sz="2400" b="1" i="1" spc="-10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99"/>
                </a:solidFill>
                <a:latin typeface="Calibri"/>
                <a:cs typeface="Calibri"/>
              </a:rPr>
              <a:t>Internship-</a:t>
            </a:r>
            <a:r>
              <a:rPr sz="2400" b="1" i="1" spc="-5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000099"/>
                </a:solidFill>
                <a:latin typeface="Calibri"/>
                <a:cs typeface="Calibri"/>
              </a:rPr>
              <a:t>2026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274" y="3368166"/>
            <a:ext cx="3470275" cy="12045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10" dirty="0">
                <a:latin typeface="Times New Roman"/>
                <a:cs typeface="Times New Roman"/>
              </a:rPr>
              <a:t>Name:</a:t>
            </a:r>
            <a:r>
              <a:rPr lang="en-US" sz="1450" spc="-10" dirty="0">
                <a:latin typeface="Times New Roman"/>
                <a:cs typeface="Times New Roman"/>
              </a:rPr>
              <a:t> Udita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50" dirty="0">
                <a:latin typeface="Times New Roman"/>
                <a:cs typeface="Times New Roman"/>
              </a:rPr>
              <a:t>Supervisor: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Prof. Millie</a:t>
            </a:r>
            <a:r>
              <a:rPr sz="1450" b="1" spc="40" dirty="0">
                <a:latin typeface="Times New Roman"/>
                <a:cs typeface="Times New Roman"/>
              </a:rPr>
              <a:t> </a:t>
            </a:r>
            <a:r>
              <a:rPr sz="1450" b="1" spc="-20" dirty="0">
                <a:latin typeface="Times New Roman"/>
                <a:cs typeface="Times New Roman"/>
              </a:rPr>
              <a:t>Pant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50" spc="-10" dirty="0">
                <a:latin typeface="Times New Roman"/>
                <a:cs typeface="Times New Roman"/>
              </a:rPr>
              <a:t>Mentor</a:t>
            </a:r>
            <a:r>
              <a:rPr sz="1450" b="1" spc="-10" dirty="0">
                <a:latin typeface="Times New Roman"/>
                <a:cs typeface="Times New Roman"/>
              </a:rPr>
              <a:t>:</a:t>
            </a:r>
            <a:r>
              <a:rPr lang="en-US" sz="1450" b="1" spc="-10" dirty="0">
                <a:latin typeface="Times New Roman"/>
                <a:cs typeface="Times New Roman"/>
              </a:rPr>
              <a:t> Ms. Riya</a:t>
            </a:r>
            <a:endParaRPr sz="1450" dirty="0">
              <a:latin typeface="Times New Roman"/>
              <a:cs typeface="Times New Roman"/>
            </a:endParaRPr>
          </a:p>
          <a:p>
            <a:pPr marL="12700" marR="5080">
              <a:lnSpc>
                <a:spcPct val="101400"/>
              </a:lnSpc>
              <a:spcBef>
                <a:spcPts val="85"/>
              </a:spcBef>
            </a:pPr>
            <a:r>
              <a:rPr sz="1450" dirty="0">
                <a:latin typeface="Times New Roman"/>
                <a:cs typeface="Times New Roman"/>
              </a:rPr>
              <a:t>Applied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Mathematics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&amp;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Scientific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Computing </a:t>
            </a:r>
            <a:r>
              <a:rPr sz="1450" dirty="0">
                <a:latin typeface="Times New Roman"/>
                <a:cs typeface="Times New Roman"/>
              </a:rPr>
              <a:t>Indian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Institute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Technology</a:t>
            </a:r>
            <a:r>
              <a:rPr sz="1450" spc="409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Roorkee</a:t>
            </a:r>
            <a:endParaRPr sz="14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16" y="235949"/>
            <a:ext cx="2311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1F5F"/>
                </a:solidFill>
              </a:rPr>
              <a:t>Data</a:t>
            </a:r>
            <a:r>
              <a:rPr sz="2800" spc="-100" dirty="0">
                <a:solidFill>
                  <a:srgbClr val="001F5F"/>
                </a:solidFill>
              </a:rPr>
              <a:t> </a:t>
            </a:r>
            <a:r>
              <a:rPr sz="2800" spc="-10" dirty="0">
                <a:solidFill>
                  <a:srgbClr val="001F5F"/>
                </a:solidFill>
              </a:rPr>
              <a:t>Structures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0" y="1014086"/>
            <a:ext cx="899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modified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easily.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0" y="1286564"/>
            <a:ext cx="12192000" cy="1312539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Structures</a:t>
            </a:r>
            <a:r>
              <a:rPr spc="-7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String</a:t>
            </a:r>
            <a:r>
              <a:rPr spc="-80" dirty="0"/>
              <a:t> </a:t>
            </a:r>
            <a:r>
              <a:rPr spc="-10" dirty="0"/>
              <a:t>Formatting:</a:t>
            </a:r>
          </a:p>
          <a:p>
            <a:pPr marL="41910">
              <a:lnSpc>
                <a:spcPct val="100000"/>
              </a:lnSpc>
              <a:spcBef>
                <a:spcPts val="1020"/>
              </a:spcBef>
            </a:pPr>
            <a:r>
              <a:rPr dirty="0">
                <a:solidFill>
                  <a:schemeClr val="accent3">
                    <a:lumMod val="50000"/>
                  </a:schemeClr>
                </a:solidFill>
              </a:rPr>
              <a:t>1.</a:t>
            </a:r>
            <a:r>
              <a:rPr spc="-10" dirty="0">
                <a:solidFill>
                  <a:schemeClr val="accent3">
                    <a:lumMod val="50000"/>
                  </a:schemeClr>
                </a:solidFill>
              </a:rPr>
              <a:t> Lists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  <a:p>
            <a:pPr marL="41910" marR="5080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latin typeface="Calibri"/>
                <a:cs typeface="Calibri"/>
              </a:rPr>
              <a:t>A</a:t>
            </a:r>
            <a:r>
              <a:rPr sz="1800" b="0" spc="-45" dirty="0">
                <a:latin typeface="Calibri"/>
                <a:cs typeface="Calibri"/>
              </a:rPr>
              <a:t> </a:t>
            </a:r>
            <a:r>
              <a:rPr sz="1800" dirty="0"/>
              <a:t>list</a:t>
            </a:r>
            <a:r>
              <a:rPr sz="1800" spc="-50" dirty="0"/>
              <a:t> </a:t>
            </a:r>
            <a:r>
              <a:rPr sz="1800" b="0" dirty="0">
                <a:latin typeface="Calibri"/>
                <a:cs typeface="Calibri"/>
              </a:rPr>
              <a:t>is</a:t>
            </a:r>
            <a:r>
              <a:rPr sz="1800" b="0" spc="-4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an</a:t>
            </a:r>
            <a:r>
              <a:rPr sz="1800" b="0" spc="-4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ordered</a:t>
            </a:r>
            <a:r>
              <a:rPr sz="1800" b="0" spc="-3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and</a:t>
            </a:r>
            <a:r>
              <a:rPr sz="1800" b="0" spc="-2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mutable</a:t>
            </a:r>
            <a:r>
              <a:rPr sz="1800" b="0" spc="-2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collection</a:t>
            </a:r>
            <a:r>
              <a:rPr sz="1800" b="0" spc="-1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of</a:t>
            </a:r>
            <a:r>
              <a:rPr sz="1800" b="0" spc="-4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items.</a:t>
            </a:r>
            <a:r>
              <a:rPr sz="1800" b="0" spc="-5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It</a:t>
            </a:r>
            <a:r>
              <a:rPr sz="1800" b="0" spc="-4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can</a:t>
            </a:r>
            <a:r>
              <a:rPr sz="1800" b="0" spc="-2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store </a:t>
            </a:r>
            <a:r>
              <a:rPr sz="1800" b="0" dirty="0">
                <a:latin typeface="Calibri"/>
                <a:cs typeface="Calibri"/>
              </a:rPr>
              <a:t>elements</a:t>
            </a:r>
            <a:r>
              <a:rPr sz="1800" b="0" spc="-6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of</a:t>
            </a:r>
            <a:r>
              <a:rPr sz="1800" b="0" spc="-50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different</a:t>
            </a:r>
            <a:r>
              <a:rPr sz="1800" b="0" spc="-5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data</a:t>
            </a:r>
            <a:r>
              <a:rPr sz="1800" b="0" spc="-5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types</a:t>
            </a:r>
            <a:r>
              <a:rPr sz="1800" b="0" spc="-5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and</a:t>
            </a:r>
            <a:r>
              <a:rPr sz="1800" b="0" spc="-3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allows</a:t>
            </a:r>
            <a:r>
              <a:rPr sz="1800" b="0" spc="-5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duplicate</a:t>
            </a:r>
            <a:r>
              <a:rPr sz="1800" b="0" spc="-2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values.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100" y="2653456"/>
            <a:ext cx="1301700" cy="3212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2000" b="1" spc="-10" dirty="0">
                <a:latin typeface="Calibri"/>
                <a:cs typeface="Calibri"/>
              </a:rPr>
              <a:t>Syntax: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99" y="4380785"/>
            <a:ext cx="561530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2.</a:t>
            </a:r>
            <a:r>
              <a:rPr sz="2400" b="1" spc="-1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Tuples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tuple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immutable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100" y="5064369"/>
            <a:ext cx="1082741" cy="28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1800" b="1" spc="-10" dirty="0">
                <a:latin typeface="Calibri"/>
                <a:cs typeface="Calibri"/>
              </a:rPr>
              <a:t>Syntax: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7579" y="3022337"/>
            <a:ext cx="5158863" cy="1274067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Wingdings" panose="05000000000000000000" pitchFamily="2" charset="2"/>
              <a:buChar char="Ø"/>
            </a:pPr>
            <a:r>
              <a:rPr b="1" spc="-10" dirty="0">
                <a:latin typeface="Calibri"/>
                <a:cs typeface="Calibri"/>
              </a:rPr>
              <a:t>Example:</a:t>
            </a:r>
            <a:endParaRPr dirty="0">
              <a:latin typeface="Calibri"/>
              <a:cs typeface="Calibri"/>
            </a:endParaRPr>
          </a:p>
          <a:p>
            <a:pPr marL="850900">
              <a:lnSpc>
                <a:spcPct val="100000"/>
              </a:lnSpc>
              <a:spcBef>
                <a:spcPts val="175"/>
              </a:spcBef>
            </a:pPr>
            <a:r>
              <a:rPr sz="2000" dirty="0">
                <a:latin typeface="Calibri"/>
                <a:cs typeface="Calibri"/>
              </a:rPr>
              <a:t>numbers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[10,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30,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40</a:t>
            </a:r>
            <a:r>
              <a:rPr sz="2000" b="1" spc="-25" dirty="0">
                <a:latin typeface="Calibri"/>
                <a:cs typeface="Calibri"/>
              </a:rPr>
              <a:t>]</a:t>
            </a:r>
            <a:endParaRPr sz="2000" dirty="0">
              <a:latin typeface="Calibri"/>
              <a:cs typeface="Calibri"/>
            </a:endParaRPr>
          </a:p>
          <a:p>
            <a:pPr marL="837565">
              <a:lnSpc>
                <a:spcPts val="2250"/>
              </a:lnSpc>
              <a:spcBef>
                <a:spcPts val="345"/>
              </a:spcBef>
            </a:pPr>
            <a:r>
              <a:rPr sz="2000" spc="-10" dirty="0">
                <a:latin typeface="Calibri"/>
                <a:cs typeface="Calibri"/>
              </a:rPr>
              <a:t>print(numbers)</a:t>
            </a:r>
            <a:endParaRPr sz="2000" dirty="0">
              <a:latin typeface="Calibri"/>
              <a:cs typeface="Calibri"/>
            </a:endParaRPr>
          </a:p>
          <a:p>
            <a:pPr marL="199390">
              <a:lnSpc>
                <a:spcPts val="2250"/>
              </a:lnSpc>
            </a:pPr>
            <a:r>
              <a:rPr sz="2000" b="1" spc="-10" dirty="0">
                <a:latin typeface="Calibri"/>
                <a:cs typeface="Calibri"/>
              </a:rPr>
              <a:t>Output:</a:t>
            </a:r>
            <a:r>
              <a:rPr lang="en-US" sz="2000" b="1" spc="-1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[10,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30,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40]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842" y="5476742"/>
            <a:ext cx="3795395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2000" b="1" spc="-10" dirty="0">
                <a:latin typeface="Calibri"/>
                <a:cs typeface="Calibri"/>
              </a:rPr>
              <a:t>Example</a:t>
            </a:r>
            <a:r>
              <a:rPr sz="1800" b="1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850265" marR="508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colors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("red",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"green",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"blue") print(colors)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31666" y="5676834"/>
            <a:ext cx="85534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Output: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36107" y="2665133"/>
            <a:ext cx="3495559" cy="299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list_name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[item1,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item2,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item3]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3796" y="5029200"/>
            <a:ext cx="3342004" cy="299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tuple_name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(item1,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item2,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item3)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50858" y="5772652"/>
            <a:ext cx="193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('red',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'green',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'blue')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4007" y="96011"/>
            <a:ext cx="697992" cy="66141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821436"/>
            <a:ext cx="12204700" cy="73660"/>
            <a:chOff x="-6095" y="821436"/>
            <a:chExt cx="12204700" cy="73660"/>
          </a:xfrm>
        </p:grpSpPr>
        <p:sp>
          <p:nvSpPr>
            <p:cNvPr id="4" name="object 4"/>
            <p:cNvSpPr/>
            <p:nvPr/>
          </p:nvSpPr>
          <p:spPr>
            <a:xfrm>
              <a:off x="0" y="827532"/>
              <a:ext cx="12192000" cy="60960"/>
            </a:xfrm>
            <a:custGeom>
              <a:avLst/>
              <a:gdLst/>
              <a:ahLst/>
              <a:cxnLst/>
              <a:rect l="l" t="t" r="r" b="b"/>
              <a:pathLst>
                <a:path w="12192000" h="60959">
                  <a:moveTo>
                    <a:pt x="12192000" y="0"/>
                  </a:moveTo>
                  <a:lnTo>
                    <a:pt x="0" y="0"/>
                  </a:lnTo>
                  <a:lnTo>
                    <a:pt x="0" y="60960"/>
                  </a:lnTo>
                  <a:lnTo>
                    <a:pt x="12192000" y="6096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27532"/>
              <a:ext cx="12192000" cy="60960"/>
            </a:xfrm>
            <a:custGeom>
              <a:avLst/>
              <a:gdLst/>
              <a:ahLst/>
              <a:cxnLst/>
              <a:rect l="l" t="t" r="r" b="b"/>
              <a:pathLst>
                <a:path w="12192000" h="60959">
                  <a:moveTo>
                    <a:pt x="0" y="60960"/>
                  </a:moveTo>
                  <a:lnTo>
                    <a:pt x="12192000" y="6096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0960"/>
                  </a:lnTo>
                  <a:close/>
                </a:path>
              </a:pathLst>
            </a:custGeom>
            <a:ln w="12192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096" y="6330817"/>
            <a:ext cx="2438902" cy="26755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-6095" y="6673594"/>
            <a:ext cx="12204700" cy="190500"/>
            <a:chOff x="-6095" y="6673594"/>
            <a:chExt cx="12204700" cy="190500"/>
          </a:xfrm>
        </p:grpSpPr>
        <p:sp>
          <p:nvSpPr>
            <p:cNvPr id="8" name="object 8"/>
            <p:cNvSpPr/>
            <p:nvPr/>
          </p:nvSpPr>
          <p:spPr>
            <a:xfrm>
              <a:off x="0" y="6679690"/>
              <a:ext cx="12192000" cy="178435"/>
            </a:xfrm>
            <a:custGeom>
              <a:avLst/>
              <a:gdLst/>
              <a:ahLst/>
              <a:cxnLst/>
              <a:rect l="l" t="t" r="r" b="b"/>
              <a:pathLst>
                <a:path w="12192000" h="178434">
                  <a:moveTo>
                    <a:pt x="12192000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12192000" y="17830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79690"/>
              <a:ext cx="12192000" cy="178435"/>
            </a:xfrm>
            <a:custGeom>
              <a:avLst/>
              <a:gdLst/>
              <a:ahLst/>
              <a:cxnLst/>
              <a:rect l="l" t="t" r="r" b="b"/>
              <a:pathLst>
                <a:path w="12192000" h="178434">
                  <a:moveTo>
                    <a:pt x="0" y="178308"/>
                  </a:moveTo>
                  <a:lnTo>
                    <a:pt x="12192000" y="1783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78308"/>
                  </a:lnTo>
                  <a:close/>
                </a:path>
              </a:pathLst>
            </a:custGeom>
            <a:ln w="12192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766" y="3089868"/>
            <a:ext cx="1094723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10802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r>
              <a:rPr sz="2400" b="1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4.</a:t>
            </a:r>
            <a:r>
              <a:rPr sz="2400" b="1" spc="-3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Dictionaries</a:t>
            </a:r>
            <a:r>
              <a:rPr lang="en-US" sz="24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: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dictionary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key-</a:t>
            </a:r>
            <a:r>
              <a:rPr sz="1800" b="1" dirty="0">
                <a:latin typeface="Calibri"/>
                <a:cs typeface="Calibri"/>
              </a:rPr>
              <a:t>value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pairs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01574" y="1016889"/>
            <a:ext cx="10237826" cy="382156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accent3">
                    <a:lumMod val="50000"/>
                  </a:schemeClr>
                </a:solidFill>
              </a:rPr>
              <a:t>3.</a:t>
            </a:r>
            <a:r>
              <a:rPr spc="-45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50000"/>
                  </a:schemeClr>
                </a:solidFill>
              </a:rPr>
              <a:t>List</a:t>
            </a:r>
            <a:r>
              <a:rPr spc="-4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3">
                    <a:lumMod val="50000"/>
                  </a:schemeClr>
                </a:solidFill>
              </a:rPr>
              <a:t>Comprehension: </a:t>
            </a:r>
            <a:r>
              <a:rPr lang="en-IN" sz="1800" b="0" spc="-10" dirty="0"/>
              <a:t>a</a:t>
            </a:r>
            <a:r>
              <a:rPr sz="1800" b="0" spc="-6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concise</a:t>
            </a:r>
            <a:r>
              <a:rPr sz="1800" b="0" spc="-4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way</a:t>
            </a:r>
            <a:r>
              <a:rPr sz="1800" b="0" spc="-5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to</a:t>
            </a:r>
            <a:r>
              <a:rPr sz="1800" b="0" spc="-6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create</a:t>
            </a:r>
            <a:r>
              <a:rPr sz="1800" b="0" spc="-4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lists.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713" y="1947053"/>
            <a:ext cx="143764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2000" b="1" spc="-10" dirty="0">
                <a:latin typeface="Calibri"/>
                <a:cs typeface="Calibri"/>
              </a:rPr>
              <a:t>Example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574" y="3567517"/>
            <a:ext cx="4267200" cy="290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2400" b="1" baseline="9722" dirty="0">
                <a:latin typeface="Calibri"/>
                <a:cs typeface="Calibri"/>
              </a:rPr>
              <a:t>Syntax:</a:t>
            </a:r>
            <a:r>
              <a:rPr sz="2400" b="1" spc="284" baseline="9722" dirty="0">
                <a:latin typeface="Calibri"/>
                <a:cs typeface="Calibri"/>
              </a:rPr>
              <a:t> </a:t>
            </a:r>
            <a:r>
              <a:rPr dirty="0">
                <a:latin typeface="Arial MT"/>
                <a:cs typeface="Arial MT"/>
              </a:rPr>
              <a:t>dict_name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=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{</a:t>
            </a:r>
            <a:r>
              <a:rPr spc="-10" dirty="0">
                <a:latin typeface="Arial MT"/>
                <a:cs typeface="Arial MT"/>
              </a:rPr>
              <a:t>key:value</a:t>
            </a:r>
            <a:r>
              <a:rPr spc="-50" dirty="0">
                <a:latin typeface="Arial MT"/>
                <a:cs typeface="Arial MT"/>
              </a:rPr>
              <a:t>}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88" y="2562933"/>
            <a:ext cx="1437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[0,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4, 9,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16]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574" y="3969213"/>
            <a:ext cx="6351626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38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2000" b="1" dirty="0">
                <a:latin typeface="Calibri"/>
                <a:cs typeface="Calibri"/>
              </a:rPr>
              <a:t>Example:</a:t>
            </a:r>
            <a:r>
              <a:rPr sz="2000" b="1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{"name":"alexa",</a:t>
            </a:r>
            <a:endParaRPr sz="1800" dirty="0">
              <a:latin typeface="Calibri"/>
              <a:cs typeface="Calibri"/>
            </a:endParaRPr>
          </a:p>
          <a:p>
            <a:pPr marL="2157095">
              <a:lnSpc>
                <a:spcPts val="2140"/>
              </a:lnSpc>
            </a:pPr>
            <a:r>
              <a:rPr sz="1800" spc="-10" dirty="0">
                <a:latin typeface="Calibri"/>
                <a:cs typeface="Calibri"/>
              </a:rPr>
              <a:t>"age":22,</a:t>
            </a:r>
            <a:endParaRPr sz="1800" dirty="0">
              <a:latin typeface="Calibri"/>
              <a:cs typeface="Calibri"/>
            </a:endParaRPr>
          </a:p>
          <a:p>
            <a:pPr marL="21050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"course":"Python"}</a:t>
            </a:r>
            <a:endParaRPr sz="1800" dirty="0">
              <a:latin typeface="Calibri"/>
              <a:cs typeface="Calibri"/>
            </a:endParaRPr>
          </a:p>
          <a:p>
            <a:pPr marL="110998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print(student)</a:t>
            </a:r>
            <a:endParaRPr lang="en-US" dirty="0">
              <a:latin typeface="Calibri"/>
              <a:cs typeface="Calibri"/>
            </a:endParaRPr>
          </a:p>
          <a:p>
            <a:pPr marL="110998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Output:</a:t>
            </a:r>
            <a:r>
              <a:rPr sz="1800" dirty="0">
                <a:latin typeface="Calibri"/>
                <a:cs typeface="Calibri"/>
              </a:rPr>
              <a:t>{'name':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'alexa',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'age':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22,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'course':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'Python'}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443" y="1380725"/>
            <a:ext cx="4601558" cy="579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IN" b="1" spc="-10" dirty="0">
                <a:latin typeface="Calibri"/>
                <a:cs typeface="Calibri"/>
              </a:rPr>
              <a:t>Syntax:</a:t>
            </a:r>
            <a:endParaRPr lang="en-IN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[new_expression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item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iterable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condition]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47800" y="2016760"/>
            <a:ext cx="294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squares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[x*x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range(5)] print(squares)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611" y="2551149"/>
            <a:ext cx="770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Output: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3919" y="978306"/>
            <a:ext cx="1003147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>
                <a:solidFill>
                  <a:schemeClr val="accent3">
                    <a:lumMod val="50000"/>
                  </a:schemeClr>
                </a:solidFill>
              </a:rPr>
              <a:t>5.</a:t>
            </a:r>
            <a:r>
              <a:rPr spc="-15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spc="-20" dirty="0">
                <a:solidFill>
                  <a:schemeClr val="accent3">
                    <a:lumMod val="50000"/>
                  </a:schemeClr>
                </a:solidFill>
              </a:rPr>
              <a:t>Sets</a:t>
            </a:r>
            <a:r>
              <a:rPr lang="en-US" spc="-20" dirty="0">
                <a:solidFill>
                  <a:schemeClr val="accent3">
                    <a:lumMod val="50000"/>
                  </a:schemeClr>
                </a:solidFill>
              </a:rPr>
              <a:t> : </a:t>
            </a:r>
            <a:r>
              <a:rPr lang="en-US" sz="1800" b="0" dirty="0"/>
              <a:t>A</a:t>
            </a:r>
            <a:r>
              <a:rPr lang="en-US" sz="1800" b="0" spc="-45" dirty="0"/>
              <a:t> </a:t>
            </a:r>
            <a:r>
              <a:rPr lang="en-US" sz="1800" b="0" dirty="0"/>
              <a:t>set</a:t>
            </a:r>
            <a:r>
              <a:rPr lang="en-US" sz="1800" b="0" spc="-50" dirty="0"/>
              <a:t> </a:t>
            </a:r>
            <a:r>
              <a:rPr lang="en-US" sz="1800" b="0" dirty="0"/>
              <a:t>is</a:t>
            </a:r>
            <a:r>
              <a:rPr lang="en-US" sz="1800" b="0" spc="-45" dirty="0"/>
              <a:t> </a:t>
            </a:r>
            <a:r>
              <a:rPr lang="en-US" sz="1800" b="0" dirty="0"/>
              <a:t>an</a:t>
            </a:r>
            <a:r>
              <a:rPr lang="en-US" sz="1800" b="0" spc="-45" dirty="0"/>
              <a:t> </a:t>
            </a:r>
            <a:r>
              <a:rPr lang="en-US" sz="1800" b="0" dirty="0"/>
              <a:t>unordered</a:t>
            </a:r>
            <a:r>
              <a:rPr lang="en-US" sz="1800" b="0" spc="-25" dirty="0"/>
              <a:t> </a:t>
            </a:r>
            <a:r>
              <a:rPr lang="en-US" sz="1800" b="0" dirty="0"/>
              <a:t>collection</a:t>
            </a:r>
            <a:r>
              <a:rPr lang="en-US" sz="1800" b="0" spc="-25" dirty="0"/>
              <a:t> </a:t>
            </a:r>
            <a:r>
              <a:rPr lang="en-US" sz="1800" b="0" dirty="0"/>
              <a:t>of</a:t>
            </a:r>
            <a:r>
              <a:rPr lang="en-US" sz="1800" b="0" spc="-40" dirty="0"/>
              <a:t> </a:t>
            </a:r>
            <a:r>
              <a:rPr lang="en-US" sz="1800" b="0" dirty="0"/>
              <a:t>unique</a:t>
            </a:r>
            <a:r>
              <a:rPr lang="en-US" sz="1800" b="0" spc="-30" dirty="0"/>
              <a:t> </a:t>
            </a:r>
            <a:r>
              <a:rPr lang="en-US" sz="1800" b="0" spc="-10" dirty="0"/>
              <a:t>elements.</a:t>
            </a:r>
            <a:endParaRPr sz="1800" b="0"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73083" y="1879451"/>
            <a:ext cx="13747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2000" b="1" spc="-10" dirty="0">
                <a:latin typeface="Calibri"/>
                <a:cs typeface="Calibri"/>
              </a:rPr>
              <a:t>Example: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5503" y="1879451"/>
            <a:ext cx="4309745" cy="13009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numbers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{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3 ,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4 ,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4 ,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,6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2}</a:t>
            </a:r>
            <a:endParaRPr dirty="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latin typeface="Calibri"/>
                <a:cs typeface="Calibri"/>
              </a:rPr>
              <a:t>print(numbers)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b="1" spc="-10" dirty="0">
                <a:latin typeface="Calibri"/>
                <a:cs typeface="Calibri"/>
              </a:rPr>
              <a:t>Output</a:t>
            </a:r>
            <a:r>
              <a:rPr spc="-10" dirty="0"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{1,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4,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6}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136" y="5530489"/>
            <a:ext cx="199008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upper()</a:t>
            </a:r>
            <a:endParaRPr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latin typeface="Arial MT"/>
                <a:cs typeface="Arial MT"/>
              </a:rPr>
              <a:t>print(name.upper())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5600" y="5847091"/>
            <a:ext cx="7010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#use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convert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string</a:t>
            </a:r>
            <a:r>
              <a:rPr spc="3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having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string_name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upper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case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5199" y="3281502"/>
            <a:ext cx="728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Note</a:t>
            </a:r>
            <a:r>
              <a:rPr sz="24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: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36066" y="3233453"/>
            <a:ext cx="1178560" cy="82041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825"/>
              </a:spcBef>
            </a:pPr>
            <a:r>
              <a:rPr sz="2000" spc="-25" dirty="0">
                <a:latin typeface="Calibri"/>
                <a:cs typeface="Calibri"/>
              </a:rPr>
              <a:t>my-</a:t>
            </a:r>
            <a:r>
              <a:rPr sz="2000" dirty="0">
                <a:latin typeface="Calibri"/>
                <a:cs typeface="Calibri"/>
              </a:rPr>
              <a:t>dict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=</a:t>
            </a:r>
            <a:endParaRPr sz="20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730"/>
              </a:spcBef>
            </a:pPr>
            <a:r>
              <a:rPr sz="2000" dirty="0">
                <a:latin typeface="Calibri"/>
                <a:cs typeface="Calibri"/>
              </a:rPr>
              <a:t>my_set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{}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38400" y="3263088"/>
            <a:ext cx="4578985" cy="82041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825"/>
              </a:spcBef>
            </a:pPr>
            <a:r>
              <a:rPr sz="2000" spc="-45" dirty="0">
                <a:latin typeface="Calibri"/>
                <a:cs typeface="Calibri"/>
              </a:rPr>
              <a:t>#To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dictionary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000" spc="-50" dirty="0">
                <a:latin typeface="Calibri"/>
                <a:cs typeface="Calibri"/>
              </a:rPr>
              <a:t>#To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dictionary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566" y="4100985"/>
            <a:ext cx="5139690" cy="1346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 algn="r">
              <a:lnSpc>
                <a:spcPct val="100000"/>
              </a:lnSpc>
              <a:spcBef>
                <a:spcPts val="100"/>
              </a:spcBef>
              <a:tabLst>
                <a:tab pos="1630680" algn="l"/>
              </a:tabLst>
            </a:pPr>
            <a:r>
              <a:rPr dirty="0">
                <a:latin typeface="Calibri"/>
                <a:cs typeface="Calibri"/>
              </a:rPr>
              <a:t>my_set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set()</a:t>
            </a:r>
            <a:r>
              <a:rPr dirty="0">
                <a:latin typeface="Calibri"/>
                <a:cs typeface="Calibri"/>
              </a:rPr>
              <a:t>	#use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create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empty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set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6.</a:t>
            </a:r>
            <a:r>
              <a:rPr sz="2400" b="1" spc="-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String</a:t>
            </a:r>
            <a:r>
              <a:rPr sz="2400" b="1" spc="-3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Manipulation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characters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enclosed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quotes.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44347E-C322-4F23-AB37-AF29766DE261}"/>
              </a:ext>
            </a:extLst>
          </p:cNvPr>
          <p:cNvSpPr/>
          <p:nvPr/>
        </p:nvSpPr>
        <p:spPr>
          <a:xfrm>
            <a:off x="740" y="1312529"/>
            <a:ext cx="569450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1800" b="0" spc="-10" dirty="0"/>
              <a:t>Syntax: </a:t>
            </a:r>
            <a:r>
              <a:rPr lang="en-US" sz="1800" b="0" dirty="0"/>
              <a:t>set_name</a:t>
            </a:r>
            <a:r>
              <a:rPr lang="en-US" sz="1800" b="0" spc="-35" dirty="0"/>
              <a:t> </a:t>
            </a:r>
            <a:r>
              <a:rPr lang="en-US" sz="1800" b="0" dirty="0"/>
              <a:t>=</a:t>
            </a:r>
            <a:r>
              <a:rPr lang="en-US" sz="1800" b="0" spc="-45" dirty="0"/>
              <a:t> </a:t>
            </a:r>
            <a:r>
              <a:rPr lang="en-US" sz="1800" b="0" dirty="0"/>
              <a:t>{element1</a:t>
            </a:r>
            <a:r>
              <a:rPr lang="en-US" sz="1800" b="0" spc="-35" dirty="0"/>
              <a:t> </a:t>
            </a:r>
            <a:r>
              <a:rPr lang="en-US" sz="1800" b="0" dirty="0"/>
              <a:t>,</a:t>
            </a:r>
            <a:r>
              <a:rPr lang="en-US" sz="1800" b="0" spc="-40" dirty="0"/>
              <a:t> </a:t>
            </a:r>
            <a:r>
              <a:rPr lang="en-US" sz="1800" b="0" dirty="0"/>
              <a:t>element2</a:t>
            </a:r>
            <a:r>
              <a:rPr lang="en-US" sz="1800" b="0" spc="-30" dirty="0"/>
              <a:t> </a:t>
            </a:r>
            <a:r>
              <a:rPr lang="en-US" sz="1800" b="0" dirty="0"/>
              <a:t>,</a:t>
            </a:r>
            <a:r>
              <a:rPr lang="en-US" sz="1800" b="0" spc="-35" dirty="0"/>
              <a:t> </a:t>
            </a:r>
            <a:r>
              <a:rPr lang="en-US" sz="1800" b="0" dirty="0"/>
              <a:t>element3</a:t>
            </a:r>
            <a:r>
              <a:rPr lang="en-US" sz="1800" b="0" spc="-35" dirty="0"/>
              <a:t> </a:t>
            </a:r>
            <a:r>
              <a:rPr lang="en-US" sz="1800" b="0" spc="-50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764" y="3147821"/>
            <a:ext cx="5237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f-</a:t>
            </a:r>
            <a:r>
              <a:rPr sz="1800" dirty="0">
                <a:latin typeface="Calibri"/>
                <a:cs typeface="Calibri"/>
              </a:rPr>
              <a:t>Strings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were </a:t>
            </a:r>
            <a:r>
              <a:rPr sz="1800" spc="-10" dirty="0">
                <a:latin typeface="Calibri"/>
                <a:cs typeface="Calibri"/>
              </a:rPr>
              <a:t>introduced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3.6.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186" y="989054"/>
            <a:ext cx="2050414" cy="2185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lower()</a:t>
            </a:r>
            <a:endParaRPr sz="2000" dirty="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65"/>
              </a:spcBef>
            </a:pPr>
            <a:r>
              <a:rPr sz="1800" spc="-10" dirty="0">
                <a:latin typeface="Arial MT"/>
                <a:cs typeface="Arial MT"/>
              </a:rPr>
              <a:t>print(name.lower())</a:t>
            </a:r>
            <a:endParaRPr sz="1800" dirty="0">
              <a:latin typeface="Arial MT"/>
              <a:cs typeface="Arial MT"/>
            </a:endParaRPr>
          </a:p>
          <a:p>
            <a:pPr marL="113030">
              <a:lnSpc>
                <a:spcPct val="100000"/>
              </a:lnSpc>
              <a:spcBef>
                <a:spcPts val="1010"/>
              </a:spcBef>
            </a:pPr>
            <a:r>
              <a:rPr sz="2000" b="1" spc="-10" dirty="0">
                <a:latin typeface="Calibri"/>
                <a:cs typeface="Calibri"/>
              </a:rPr>
              <a:t>strip()</a:t>
            </a:r>
            <a:endParaRPr sz="2000" dirty="0">
              <a:latin typeface="Calibri"/>
              <a:cs typeface="Calibri"/>
            </a:endParaRPr>
          </a:p>
          <a:p>
            <a:pPr marL="113030" marR="318135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 MT"/>
                <a:cs typeface="Arial MT"/>
              </a:rPr>
              <a:t>text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Hello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" </a:t>
            </a:r>
            <a:r>
              <a:rPr sz="1800" spc="-10" dirty="0">
                <a:latin typeface="Arial MT"/>
                <a:cs typeface="Arial MT"/>
              </a:rPr>
              <a:t>print(text.strip())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800" b="1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7.</a:t>
            </a:r>
            <a:r>
              <a:rPr sz="2800" b="1" spc="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f-</a:t>
            </a:r>
            <a:r>
              <a:rPr sz="2800" b="1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string</a:t>
            </a:r>
            <a:r>
              <a:rPr sz="2800" b="1" spc="-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: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8800" y="3785584"/>
            <a:ext cx="2999131" cy="299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f"text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{variable}"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355" y="3783965"/>
            <a:ext cx="1401445" cy="3206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2000" b="1" spc="-10" dirty="0">
                <a:latin typeface="Calibri"/>
                <a:cs typeface="Calibri"/>
              </a:rPr>
              <a:t>Syntax: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9625" y="4064635"/>
            <a:ext cx="13030200" cy="1989647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Font typeface="Wingdings" panose="05000000000000000000" pitchFamily="2" charset="2"/>
              <a:buChar char="Ø"/>
            </a:pPr>
            <a:r>
              <a:rPr sz="2000" b="1" dirty="0">
                <a:latin typeface="Calibri"/>
                <a:cs typeface="Calibri"/>
              </a:rPr>
              <a:t>Example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lang="en-US" sz="2000" b="1" spc="-50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336550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               </a:t>
            </a:r>
            <a:r>
              <a:rPr sz="1800" dirty="0">
                <a:latin typeface="Calibri"/>
                <a:cs typeface="Calibri"/>
              </a:rPr>
              <a:t>b 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</a:t>
            </a:r>
            <a:endParaRPr sz="1800" dirty="0">
              <a:latin typeface="Calibri"/>
              <a:cs typeface="Calibri"/>
            </a:endParaRPr>
          </a:p>
          <a:p>
            <a:pPr marL="336550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               </a:t>
            </a:r>
            <a:r>
              <a:rPr sz="1800" dirty="0">
                <a:latin typeface="Calibri"/>
                <a:cs typeface="Calibri"/>
              </a:rPr>
              <a:t>print(f"Sum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{a+b}")</a:t>
            </a:r>
            <a:endParaRPr sz="1800" dirty="0">
              <a:latin typeface="Calibri"/>
              <a:cs typeface="Calibri"/>
            </a:endParaRPr>
          </a:p>
          <a:p>
            <a:pPr marL="304165">
              <a:lnSpc>
                <a:spcPct val="100000"/>
              </a:lnSpc>
              <a:spcBef>
                <a:spcPts val="1470"/>
              </a:spcBef>
            </a:pPr>
            <a:r>
              <a:rPr sz="2000" b="1" dirty="0">
                <a:latin typeface="Calibri"/>
                <a:cs typeface="Calibri"/>
              </a:rPr>
              <a:t>Output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lang="en-US" sz="2000" b="1" spc="-50" dirty="0">
              <a:latin typeface="Calibri"/>
              <a:cs typeface="Calibri"/>
            </a:endParaRPr>
          </a:p>
          <a:p>
            <a:pPr marL="304165">
              <a:lnSpc>
                <a:spcPct val="100000"/>
              </a:lnSpc>
              <a:spcBef>
                <a:spcPts val="1470"/>
              </a:spcBef>
            </a:pPr>
            <a:r>
              <a:rPr lang="en-US" sz="1800" dirty="0">
                <a:latin typeface="Calibri"/>
                <a:cs typeface="Calibri"/>
              </a:rPr>
              <a:t>            </a:t>
            </a:r>
            <a:r>
              <a:rPr sz="1800" dirty="0">
                <a:latin typeface="Calibri"/>
                <a:cs typeface="Calibri"/>
              </a:rPr>
              <a:t>Sum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30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9176" y="1219200"/>
            <a:ext cx="5819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#use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string_name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case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3600" y="2081982"/>
            <a:ext cx="9677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#use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removes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leading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trailing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characters(such</a:t>
            </a:r>
            <a:r>
              <a:rPr sz="1800" spc="-25" dirty="0">
                <a:latin typeface="Calibri"/>
                <a:cs typeface="Calibri"/>
              </a:rPr>
              <a:t> as </a:t>
            </a:r>
            <a:r>
              <a:rPr sz="1800" dirty="0">
                <a:latin typeface="Calibri"/>
                <a:cs typeface="Calibri"/>
              </a:rPr>
              <a:t>spaces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newline)from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string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552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MT</vt:lpstr>
      <vt:lpstr>Calibri</vt:lpstr>
      <vt:lpstr>Georgia</vt:lpstr>
      <vt:lpstr>Times New Roman</vt:lpstr>
      <vt:lpstr>Wingdings</vt:lpstr>
      <vt:lpstr>Office Theme</vt:lpstr>
      <vt:lpstr>Basics of Python</vt:lpstr>
      <vt:lpstr>Data Structures</vt:lpstr>
      <vt:lpstr>3. List Comprehension: a concise way to create lists.</vt:lpstr>
      <vt:lpstr>5. Sets : A set is an unordered collection of unique elements.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3</cp:revision>
  <dcterms:created xsi:type="dcterms:W3CDTF">2026-07-13T08:47:55Z</dcterms:created>
  <dcterms:modified xsi:type="dcterms:W3CDTF">2026-07-13T09:11:47Z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2026-07-13T00:00:00Z</vt:filetime>
  </property>
  <property fmtid="{D5CDD505-2E9C-101B-9397-08002B2CF9AE}" pid="6" name="Producer">
    <vt:lpwstr>Microsoft® PowerPoint® 2019</vt:lpwstr>
  </property>
</Properties>
</file>