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81" r:id="rId2"/>
    <p:sldId id="323" r:id="rId3"/>
    <p:sldId id="322" r:id="rId4"/>
    <p:sldId id="324" r:id="rId5"/>
    <p:sldId id="354" r:id="rId6"/>
    <p:sldId id="327" r:id="rId7"/>
    <p:sldId id="328" r:id="rId8"/>
    <p:sldId id="331" r:id="rId9"/>
    <p:sldId id="332" r:id="rId10"/>
    <p:sldId id="333" r:id="rId11"/>
    <p:sldId id="334" r:id="rId12"/>
    <p:sldId id="335" r:id="rId13"/>
    <p:sldId id="357" r:id="rId14"/>
    <p:sldId id="336" r:id="rId15"/>
    <p:sldId id="337" r:id="rId16"/>
    <p:sldId id="338" r:id="rId17"/>
    <p:sldId id="339" r:id="rId18"/>
    <p:sldId id="340" r:id="rId19"/>
    <p:sldId id="355" r:id="rId20"/>
    <p:sldId id="356" r:id="rId21"/>
    <p:sldId id="34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2" initials="u" lastIdx="1" clrIdx="0">
    <p:extLst>
      <p:ext uri="{19B8F6BF-5375-455C-9EA6-DF929625EA0E}">
        <p15:presenceInfo xmlns:p15="http://schemas.microsoft.com/office/powerpoint/2012/main" userId="user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50A016-5D6E-4D97-AE13-2A5468E02E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D7705D-2969-40B4-9E8D-9A0303D83C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5C5C3-F148-455E-81E6-DE77DEEFB8C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CAF2B2-B32D-4AFE-A498-F180AB60FE5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5FB0F-E7D3-4A69-92F3-82381C68AF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4C599-3F8C-40C0-8AA2-97176055B6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35176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05F40B-0C8F-4AA6-AE02-8F0A9C480670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90BD8-5968-4148-B0A5-ED0CDFF1B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53530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AEB5-225E-4810-9563-E46323C0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9624-476A-4471-B279-AD909F197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42A1-7CD4-415E-8AF4-9D85D9F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AA0E-0E69-484F-B4AE-9374066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2798-846B-46C5-8E9A-002676B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FB1A-C635-4763-B822-C6815F5D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9B05-75E0-4400-9E29-DF00D535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95CD-B135-4E87-BCEB-F5CDA5D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6C0-FFE4-4C76-B50F-64FA114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5CFC-DB24-4743-890C-852D3A4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87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D71-AFB1-4E1C-8AE8-524A4FF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E175-81E0-45F0-BDB5-A097DE6F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99F-80ED-4BDB-AA88-138ACF1D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6B7-9591-4020-867B-9AACA9D0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EF05-F6A0-42F1-9ECA-4ABD454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E95C-93DD-4EDC-B202-DE1512A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F80-1B52-49CF-9284-17541428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BC02-DF00-4C66-85B6-7928B8EA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04E9-34DD-4A67-9A08-5A37CA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B592-86DD-461C-92CF-E718CE42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6F5-01A7-4D6A-B553-A96AA8B2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33C1-C9CF-4644-AA3B-B31241C8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90FF-FA3F-4E33-8D8E-C0BF30642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D967B-973D-44B5-93D0-CBBB95E8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9746-207D-44BD-A805-8FB32B95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E08D6-F6B4-4C59-AC21-11CACBE74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3A868-1684-4D51-9909-E6FEBA23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C4DB7-8D66-4385-8F36-DDB0B40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238E7-75D6-4B5A-9A5E-94AF3DDF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0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1F7D-9A0E-4428-AFA6-B3884B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D0FE8-FBC4-4053-A9DB-007B50B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5807-E233-4E49-A82E-99348F18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E2138-6BF4-4E1E-8532-88B172A8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22116-2130-4A94-A2E7-88243ABB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84FF-3C8D-4AF6-ACFC-BBB36E20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DE3D-6CA5-40DA-BF1D-E2010838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9DD-99C2-4B2F-AB88-D320B46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C6A9-2E46-4F1C-979D-61E38C8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F673-C3EC-4B67-86DA-0C2F5AD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0DD5C-A4A3-456F-A80A-CC716C66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9E7FB-5912-492F-B954-BE022C6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EEE39-41A5-4D5D-8DE7-C16FA74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1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216-DB91-4F86-AB66-FF06A9B1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55AE-30E1-4B94-8AE5-5E865411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61B40-8596-4A45-BF52-06D0752E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2313-6DE9-48CC-8A90-1857FDF7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D8B-F55D-4B88-9392-4DD15847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0A818-5409-4AFE-B471-373AFE3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4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D382-98BA-4F37-BB94-642F99F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807C-4AD2-4BEF-8657-F80C544E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87A4-FF52-4E32-95A3-F2A31EFA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8933-D684-4380-9EBA-8DF478B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C49-D069-4F13-81B1-A1E07B53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954B0-E481-4AF9-A3BA-564C7010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368E4-F9C3-4E17-8884-BF1F7F82F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5AA5-E3DC-4A1B-8ECA-54BEAFE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E7C3-D9E2-4027-9A75-6C5E9E6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9609-801E-4223-836A-D95A46CA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3B56-6D5C-4682-9920-B94261D4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7D9D1-EE96-4CB8-A598-90974E6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5E0-FA87-4BDD-B501-B34239EBA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6BB9-162D-4FE6-BD3D-5DE0B1A0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0E43-4D3F-4308-BFAB-EB5E8B80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9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towardsdatascience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analyticsvidhya.com/" TargetMode="External"/><Relationship Id="rId5" Type="http://schemas.openxmlformats.org/officeDocument/2006/relationships/hyperlink" Target="https://en.wikipedia.org/wiki/Machine_learning" TargetMode="External"/><Relationship Id="rId4" Type="http://schemas.openxmlformats.org/officeDocument/2006/relationships/hyperlink" Target="https://www.geeksforgeeks.org/machine-learning/" TargetMode="External"/><Relationship Id="rId9" Type="http://schemas.openxmlformats.org/officeDocument/2006/relationships/hyperlink" Target="https://scikit-learn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7" y="1062571"/>
            <a:ext cx="9254067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latin typeface="Georgia" pitchFamily="34" charset="0"/>
              </a:rPr>
              <a:t>Machine Learning</a:t>
            </a:r>
            <a:endParaRPr lang="en-US" sz="24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Internship- 2026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Udita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Ms. Riya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0" y="16809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Table of content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168CBA-50E5-4DEE-895C-ACF38E6EAA36}"/>
              </a:ext>
            </a:extLst>
          </p:cNvPr>
          <p:cNvSpPr txBox="1"/>
          <p:nvPr/>
        </p:nvSpPr>
        <p:spPr>
          <a:xfrm>
            <a:off x="257451" y="1456184"/>
            <a:ext cx="10804126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 Introduction to 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Data Pre-processing &amp; EDA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Linear &amp; Logistic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Decision Trees &amp; Random Forests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SVM &amp; K-Nearest Neighbours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Clustering &amp; Dimensionality Reduction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Model Evaluation &amp; Hyperparameter Tuning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Feature Engineering &amp;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Introduction to NLP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Machine Learning Capstone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1360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10521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0" y="10131"/>
            <a:ext cx="1177424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Introduction to Machine Learning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BEEAC9-0A95-42B3-90B9-017D7A2CF8FA}"/>
              </a:ext>
            </a:extLst>
          </p:cNvPr>
          <p:cNvSpPr txBox="1"/>
          <p:nvPr/>
        </p:nvSpPr>
        <p:spPr>
          <a:xfrm>
            <a:off x="2807795" y="1074917"/>
            <a:ext cx="59979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Machine Learning (ML) is a branch of Artificial Intelligence that enables computers to learn patterns from data and make predictions or decisions without being explicitly programmed for every task.</a:t>
            </a:r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CC3042-E62A-4C4C-9B42-D12F43CB18B8}"/>
              </a:ext>
            </a:extLst>
          </p:cNvPr>
          <p:cNvSpPr txBox="1"/>
          <p:nvPr/>
        </p:nvSpPr>
        <p:spPr>
          <a:xfrm>
            <a:off x="49270" y="990982"/>
            <a:ext cx="2538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Machine learning: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62A7EF-9F83-4F4A-A998-0679C88ACDBD}"/>
              </a:ext>
            </a:extLst>
          </p:cNvPr>
          <p:cNvSpPr txBox="1"/>
          <p:nvPr/>
        </p:nvSpPr>
        <p:spPr>
          <a:xfrm>
            <a:off x="-28794" y="1734816"/>
            <a:ext cx="4039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50000"/>
                  </a:schemeClr>
                </a:solidFill>
              </a:rPr>
              <a:t>Types of Machine Learning: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A2DE8A-1C9B-4F6D-845F-097E773353EE}"/>
              </a:ext>
            </a:extLst>
          </p:cNvPr>
          <p:cNvSpPr txBox="1"/>
          <p:nvPr/>
        </p:nvSpPr>
        <p:spPr>
          <a:xfrm>
            <a:off x="-11354" y="2098555"/>
            <a:ext cx="2743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1. Supervised Learning: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DAC8B9-EB15-4EA2-8767-DFCFF99F38BD}"/>
              </a:ext>
            </a:extLst>
          </p:cNvPr>
          <p:cNvSpPr txBox="1"/>
          <p:nvPr/>
        </p:nvSpPr>
        <p:spPr>
          <a:xfrm>
            <a:off x="2889971" y="2101928"/>
            <a:ext cx="5997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 </a:t>
            </a:r>
            <a:r>
              <a:rPr lang="en-US" sz="1400" b="1" dirty="0"/>
              <a:t>supervised learning</a:t>
            </a:r>
            <a:r>
              <a:rPr lang="en-US" sz="1400" dirty="0"/>
              <a:t>, the model is trained using </a:t>
            </a:r>
            <a:r>
              <a:rPr lang="en-US" sz="1400" b="1" dirty="0"/>
              <a:t>labeled data</a:t>
            </a:r>
            <a:r>
              <a:rPr lang="en-US" sz="1400" dirty="0"/>
              <a:t>, where both the input and the correct output are provided.</a:t>
            </a:r>
            <a:endParaRPr lang="en-IN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2BAEF4-C03F-41C1-87B4-0CF4DDBD21F3}"/>
              </a:ext>
            </a:extLst>
          </p:cNvPr>
          <p:cNvSpPr txBox="1"/>
          <p:nvPr/>
        </p:nvSpPr>
        <p:spPr>
          <a:xfrm>
            <a:off x="197553" y="2687521"/>
            <a:ext cx="28401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Examples</a:t>
            </a:r>
            <a:r>
              <a:rPr lang="en-US" sz="2000" b="1" dirty="0">
                <a:solidFill>
                  <a:schemeClr val="tx2"/>
                </a:solidFill>
              </a:rPr>
              <a:t>:</a:t>
            </a:r>
            <a:endParaRPr lang="en-US" sz="20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Email spam detection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House price prediction 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1E20D8-5C6B-4E2E-934A-6616DC4E3A40}"/>
              </a:ext>
            </a:extLst>
          </p:cNvPr>
          <p:cNvSpPr txBox="1"/>
          <p:nvPr/>
        </p:nvSpPr>
        <p:spPr>
          <a:xfrm>
            <a:off x="2715275" y="2753362"/>
            <a:ext cx="46341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Common algorithms: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Linear Regression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Decision Tree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Random Forest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535CF8-FE49-402B-9CDF-0DB79164ECFA}"/>
              </a:ext>
            </a:extLst>
          </p:cNvPr>
          <p:cNvSpPr txBox="1"/>
          <p:nvPr/>
        </p:nvSpPr>
        <p:spPr>
          <a:xfrm>
            <a:off x="31057" y="3657017"/>
            <a:ext cx="29385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2. Unsupervised Learning: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E7384B-0701-45A6-ACA3-2F8837952B6A}"/>
              </a:ext>
            </a:extLst>
          </p:cNvPr>
          <p:cNvSpPr txBox="1"/>
          <p:nvPr/>
        </p:nvSpPr>
        <p:spPr>
          <a:xfrm>
            <a:off x="2907727" y="3695777"/>
            <a:ext cx="5794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 </a:t>
            </a:r>
            <a:r>
              <a:rPr lang="en-US" sz="1400" b="1" dirty="0"/>
              <a:t>unsupervised learning</a:t>
            </a:r>
            <a:r>
              <a:rPr lang="en-US" sz="1400" dirty="0"/>
              <a:t>, the model is trained on </a:t>
            </a:r>
            <a:r>
              <a:rPr lang="en-US" sz="1400" b="1" dirty="0"/>
              <a:t>unlabeled data</a:t>
            </a:r>
            <a:r>
              <a:rPr lang="en-US" sz="1400" dirty="0"/>
              <a:t>. It tries to discover hidden patterns or groupings in the data.</a:t>
            </a:r>
            <a:endParaRPr lang="en-IN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2DFEA4-F3D0-4561-82B9-28284FDE8471}"/>
              </a:ext>
            </a:extLst>
          </p:cNvPr>
          <p:cNvSpPr txBox="1"/>
          <p:nvPr/>
        </p:nvSpPr>
        <p:spPr>
          <a:xfrm>
            <a:off x="189240" y="4259628"/>
            <a:ext cx="284017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Examples: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Customer segmentation</a:t>
            </a:r>
          </a:p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99D1C3-8085-4D93-B0D0-ADF038B2C900}"/>
              </a:ext>
            </a:extLst>
          </p:cNvPr>
          <p:cNvSpPr txBox="1"/>
          <p:nvPr/>
        </p:nvSpPr>
        <p:spPr>
          <a:xfrm>
            <a:off x="2838174" y="4350458"/>
            <a:ext cx="278758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Common algorithms: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K-Means Clustering</a:t>
            </a:r>
          </a:p>
          <a:p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EC2154-922C-4EFC-B114-B2DD016D3A2F}"/>
              </a:ext>
            </a:extLst>
          </p:cNvPr>
          <p:cNvSpPr/>
          <p:nvPr/>
        </p:nvSpPr>
        <p:spPr>
          <a:xfrm>
            <a:off x="-28794" y="5022157"/>
            <a:ext cx="30582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50000"/>
                  </a:schemeClr>
                </a:solidFill>
              </a:rPr>
              <a:t>3. Reinforcement Learning: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1F9447-AAF4-4356-AE23-AE537B492C48}"/>
              </a:ext>
            </a:extLst>
          </p:cNvPr>
          <p:cNvSpPr/>
          <p:nvPr/>
        </p:nvSpPr>
        <p:spPr>
          <a:xfrm>
            <a:off x="2969566" y="5068592"/>
            <a:ext cx="573243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In </a:t>
            </a:r>
            <a:r>
              <a:rPr lang="en-US" sz="1400" b="1" dirty="0"/>
              <a:t>reinforcement learning</a:t>
            </a:r>
            <a:r>
              <a:rPr lang="en-US" sz="1400" dirty="0"/>
              <a:t>, an </a:t>
            </a:r>
            <a:r>
              <a:rPr lang="en-US" sz="1400" b="1" dirty="0"/>
              <a:t>agent</a:t>
            </a:r>
            <a:r>
              <a:rPr lang="en-US" sz="1400" dirty="0"/>
              <a:t> learns by interacting with an environment. It receives </a:t>
            </a:r>
            <a:r>
              <a:rPr lang="en-US" sz="1400" b="1" dirty="0"/>
              <a:t>rewards</a:t>
            </a:r>
            <a:r>
              <a:rPr lang="en-US" sz="1400" dirty="0"/>
              <a:t> for good actions and </a:t>
            </a:r>
            <a:r>
              <a:rPr lang="en-US" sz="1400" b="1" dirty="0"/>
              <a:t>penalties</a:t>
            </a:r>
            <a:r>
              <a:rPr lang="en-US" sz="1400" dirty="0"/>
              <a:t> for bad ones, gradually learning the best strategy</a:t>
            </a:r>
            <a:r>
              <a:rPr lang="en-US" sz="1600" dirty="0"/>
              <a:t>.</a:t>
            </a:r>
            <a:endParaRPr lang="en-IN" sz="16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1C7A1E-5362-458D-AD35-915C600E4F24}"/>
              </a:ext>
            </a:extLst>
          </p:cNvPr>
          <p:cNvSpPr/>
          <p:nvPr/>
        </p:nvSpPr>
        <p:spPr>
          <a:xfrm>
            <a:off x="278292" y="5620346"/>
            <a:ext cx="2163907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Examples: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Robot navigation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Self-driving cars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A8E265-D85B-42BF-90CB-765526D37765}"/>
              </a:ext>
            </a:extLst>
          </p:cNvPr>
          <p:cNvSpPr/>
          <p:nvPr/>
        </p:nvSpPr>
        <p:spPr>
          <a:xfrm>
            <a:off x="9622270" y="3267824"/>
            <a:ext cx="30590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749A0C-651E-44E2-842C-097EC829175E}"/>
              </a:ext>
            </a:extLst>
          </p:cNvPr>
          <p:cNvSpPr/>
          <p:nvPr/>
        </p:nvSpPr>
        <p:spPr>
          <a:xfrm>
            <a:off x="9377976" y="4210538"/>
            <a:ext cx="1339280" cy="52243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4. Model Training 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 Learn from data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E992F8-796A-47CE-9332-F8E5851443B6}"/>
              </a:ext>
            </a:extLst>
          </p:cNvPr>
          <p:cNvSpPr/>
          <p:nvPr/>
        </p:nvSpPr>
        <p:spPr>
          <a:xfrm flipH="1">
            <a:off x="9193754" y="2325976"/>
            <a:ext cx="1663636" cy="80607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2.Data Pre-processing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• Clean data 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 • Handle missing 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 • Feature selection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9999BE-F3D3-4A3E-B964-05689C0BA116}"/>
              </a:ext>
            </a:extLst>
          </p:cNvPr>
          <p:cNvSpPr/>
          <p:nvPr/>
        </p:nvSpPr>
        <p:spPr>
          <a:xfrm>
            <a:off x="9251460" y="3403182"/>
            <a:ext cx="1663637" cy="52243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3. Train-Test Split 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 (80% Train, 20% Test)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8243FE-6899-424B-B2C6-D298768C0009}"/>
              </a:ext>
            </a:extLst>
          </p:cNvPr>
          <p:cNvSpPr/>
          <p:nvPr/>
        </p:nvSpPr>
        <p:spPr>
          <a:xfrm>
            <a:off x="9538953" y="5856549"/>
            <a:ext cx="1156060" cy="52533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6. Prediction &amp; </a:t>
            </a:r>
            <a:br>
              <a:rPr lang="en-IN" sz="1200" b="1" dirty="0">
                <a:solidFill>
                  <a:schemeClr val="tx1"/>
                </a:solidFill>
              </a:rPr>
            </a:br>
            <a:r>
              <a:rPr lang="en-IN" sz="1200" b="1" dirty="0">
                <a:solidFill>
                  <a:schemeClr val="tx1"/>
                </a:solidFill>
              </a:rPr>
              <a:t> Deployment </a:t>
            </a: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3CD3C93C-5577-4A05-B9FD-0F5B3C371791}"/>
              </a:ext>
            </a:extLst>
          </p:cNvPr>
          <p:cNvSpPr/>
          <p:nvPr/>
        </p:nvSpPr>
        <p:spPr>
          <a:xfrm>
            <a:off x="10006071" y="2066251"/>
            <a:ext cx="195308" cy="2652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24BD9CFB-CC16-4599-9D05-B82026F52863}"/>
              </a:ext>
            </a:extLst>
          </p:cNvPr>
          <p:cNvSpPr/>
          <p:nvPr/>
        </p:nvSpPr>
        <p:spPr>
          <a:xfrm>
            <a:off x="10023827" y="3122000"/>
            <a:ext cx="153459" cy="2652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41731987-8A61-4971-AB12-59F3B525C9C4}"/>
              </a:ext>
            </a:extLst>
          </p:cNvPr>
          <p:cNvSpPr/>
          <p:nvPr/>
        </p:nvSpPr>
        <p:spPr>
          <a:xfrm>
            <a:off x="10023827" y="3930945"/>
            <a:ext cx="153459" cy="2652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EC4AABBC-E13C-4C06-A0B6-D7DB1BC632EB}"/>
              </a:ext>
            </a:extLst>
          </p:cNvPr>
          <p:cNvSpPr/>
          <p:nvPr/>
        </p:nvSpPr>
        <p:spPr>
          <a:xfrm flipH="1">
            <a:off x="10053553" y="5615901"/>
            <a:ext cx="143696" cy="2652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5D8EC41D-1883-4887-BC5F-B6BCEDF7AEBA}"/>
              </a:ext>
            </a:extLst>
          </p:cNvPr>
          <p:cNvSpPr/>
          <p:nvPr/>
        </p:nvSpPr>
        <p:spPr>
          <a:xfrm>
            <a:off x="10043790" y="4738993"/>
            <a:ext cx="153459" cy="2652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ED026F-A12B-4AD4-B687-1C0287679871}"/>
              </a:ext>
            </a:extLst>
          </p:cNvPr>
          <p:cNvSpPr/>
          <p:nvPr/>
        </p:nvSpPr>
        <p:spPr>
          <a:xfrm>
            <a:off x="9211739" y="4990498"/>
            <a:ext cx="1776240" cy="65971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5. Model Evaluation 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Accuracy, Precision,  Recall, F1 Score 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3478C6-1CEC-4632-BC0C-0DF7D6D4533C}"/>
              </a:ext>
            </a:extLst>
          </p:cNvPr>
          <p:cNvSpPr/>
          <p:nvPr/>
        </p:nvSpPr>
        <p:spPr>
          <a:xfrm>
            <a:off x="9324016" y="1608759"/>
            <a:ext cx="1459073" cy="40444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1. Data Collection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70C8B3-43D9-45AA-ACCC-DA71D7273DDF}"/>
              </a:ext>
            </a:extLst>
          </p:cNvPr>
          <p:cNvSpPr/>
          <p:nvPr/>
        </p:nvSpPr>
        <p:spPr>
          <a:xfrm>
            <a:off x="8916014" y="1067953"/>
            <a:ext cx="2926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Machine learning workflow 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106532" y="45045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/>
              <a:t>Key Machine Learning Terminology</a:t>
            </a:r>
            <a:r>
              <a:rPr lang="en-IN" sz="2800" b="1" dirty="0"/>
              <a:t>:</a:t>
            </a:r>
            <a:endParaRPr lang="en-US" sz="28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28DF0D64-AFB7-4C07-80D7-17D4E2988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826" y="3130941"/>
            <a:ext cx="12309511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D995B4-DA27-4DE1-BB24-6419AB47EE73}"/>
              </a:ext>
            </a:extLst>
          </p:cNvPr>
          <p:cNvSpPr/>
          <p:nvPr/>
        </p:nvSpPr>
        <p:spPr>
          <a:xfrm>
            <a:off x="79900" y="4135275"/>
            <a:ext cx="5433131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chemeClr val="tx2"/>
                </a:solidFill>
              </a:rPr>
              <a:t>2. Labels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b="1" dirty="0"/>
              <a:t>Labels</a:t>
            </a:r>
            <a:r>
              <a:rPr lang="en-US" sz="1400" dirty="0"/>
              <a:t> are the </a:t>
            </a:r>
            <a:r>
              <a:rPr lang="en-US" sz="1400" b="1" dirty="0"/>
              <a:t>correct output values</a:t>
            </a:r>
            <a:r>
              <a:rPr lang="en-US" sz="1400" dirty="0"/>
              <a:t> that the model is trying to predict.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/>
              <a:t>Also called the </a:t>
            </a:r>
            <a:r>
              <a:rPr lang="en-US" sz="1400" b="1" dirty="0"/>
              <a:t>target variable</a:t>
            </a:r>
            <a:r>
              <a:rPr lang="en-US" sz="1400" dirty="0"/>
              <a:t> or </a:t>
            </a:r>
            <a:r>
              <a:rPr lang="en-US" sz="1400" b="1" dirty="0"/>
              <a:t>dependent variable</a:t>
            </a:r>
            <a:r>
              <a:rPr lang="en-US" sz="1400" dirty="0"/>
              <a:t>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/>
              <a:t>Labels are available only in supervised learning. </a:t>
            </a:r>
          </a:p>
          <a:p>
            <a:pPr algn="just"/>
            <a:r>
              <a:rPr lang="en-US" sz="1400" b="1" dirty="0"/>
              <a:t>Example:</a:t>
            </a:r>
            <a:endParaRPr lang="en-US" sz="1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/>
              <a:t>     House price (₹50,00,000)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Email category (Spam or Not Spam)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/>
              <a:t>     Student result (Pass or Fail)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05BAFE-16C5-4B9A-B91C-B96BD87051B3}"/>
              </a:ext>
            </a:extLst>
          </p:cNvPr>
          <p:cNvSpPr/>
          <p:nvPr/>
        </p:nvSpPr>
        <p:spPr>
          <a:xfrm>
            <a:off x="5854073" y="4051606"/>
            <a:ext cx="6096000" cy="2339102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4. Testing</a:t>
            </a:r>
          </a:p>
          <a:p>
            <a:r>
              <a:rPr lang="en-US" sz="1400" b="1" dirty="0"/>
              <a:t>Testing</a:t>
            </a:r>
            <a:r>
              <a:rPr lang="en-US" sz="1400" dirty="0"/>
              <a:t> is the process of evaluating the trained model using a </a:t>
            </a:r>
            <a:r>
              <a:rPr lang="en-US" sz="1400" b="1" dirty="0"/>
              <a:t>testing dataset</a:t>
            </a:r>
            <a:r>
              <a:rPr lang="en-US" sz="1400" dirty="0"/>
              <a:t> that it has not seen before. </a:t>
            </a:r>
          </a:p>
          <a:p>
            <a:r>
              <a:rPr lang="en-US" sz="1400" dirty="0"/>
              <a:t>It measures how well the model performs on new, unseen data. </a:t>
            </a:r>
          </a:p>
          <a:p>
            <a:r>
              <a:rPr lang="en-US" sz="1400" dirty="0"/>
              <a:t>Common evaluation metrics include </a:t>
            </a:r>
            <a:r>
              <a:rPr lang="en-US" sz="1400" b="1" dirty="0"/>
              <a:t>accuracy</a:t>
            </a:r>
            <a:r>
              <a:rPr lang="en-US" sz="1400" dirty="0"/>
              <a:t>, </a:t>
            </a:r>
            <a:r>
              <a:rPr lang="en-US" sz="1400" b="1" dirty="0"/>
              <a:t>precision</a:t>
            </a:r>
            <a:r>
              <a:rPr lang="en-US" sz="1400" dirty="0"/>
              <a:t>, </a:t>
            </a:r>
            <a:r>
              <a:rPr lang="en-US" sz="1400" b="1" dirty="0"/>
              <a:t>recall</a:t>
            </a:r>
            <a:r>
              <a:rPr lang="en-US" sz="1400" dirty="0"/>
              <a:t>, and </a:t>
            </a:r>
            <a:r>
              <a:rPr lang="en-US" sz="1400" b="1" dirty="0"/>
              <a:t>F1-score</a:t>
            </a:r>
            <a:r>
              <a:rPr lang="en-US" sz="1400" dirty="0"/>
              <a:t> (for classification), or </a:t>
            </a:r>
            <a:r>
              <a:rPr lang="en-US" sz="1400" b="1" dirty="0"/>
              <a:t>mean squared error (MSE)</a:t>
            </a:r>
            <a:r>
              <a:rPr lang="en-US" sz="1400" dirty="0"/>
              <a:t> (for regression). </a:t>
            </a:r>
          </a:p>
          <a:p>
            <a:endParaRPr lang="en-US" sz="1400" b="1" dirty="0"/>
          </a:p>
          <a:p>
            <a:r>
              <a:rPr lang="en-US" sz="1400" b="1" dirty="0"/>
              <a:t>Example:</a:t>
            </a:r>
          </a:p>
          <a:p>
            <a:r>
              <a:rPr lang="en-US" sz="1400" dirty="0"/>
              <a:t> After training on 8,000 emails, the model is tested on 2,000 new emails to assess its prediction accuracy.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2EFDC1-E721-447B-8433-E791B6ACD5CF}"/>
              </a:ext>
            </a:extLst>
          </p:cNvPr>
          <p:cNvSpPr/>
          <p:nvPr/>
        </p:nvSpPr>
        <p:spPr>
          <a:xfrm>
            <a:off x="106532" y="4135275"/>
            <a:ext cx="5388739" cy="210184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8E77DB-58C7-460C-8808-10623478BCA3}"/>
              </a:ext>
            </a:extLst>
          </p:cNvPr>
          <p:cNvSpPr/>
          <p:nvPr/>
        </p:nvSpPr>
        <p:spPr>
          <a:xfrm>
            <a:off x="116525" y="1300765"/>
            <a:ext cx="532548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chemeClr val="tx2"/>
                </a:solidFill>
              </a:rPr>
              <a:t>1. Features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/>
              <a:t>Features</a:t>
            </a:r>
            <a:r>
              <a:rPr lang="en-US" sz="1400" dirty="0"/>
              <a:t> are the </a:t>
            </a:r>
            <a:r>
              <a:rPr lang="en-US" sz="1400" b="1" dirty="0"/>
              <a:t>input variables</a:t>
            </a:r>
            <a:r>
              <a:rPr lang="en-US" sz="1400" dirty="0"/>
              <a:t> or attributes used by a machine learning model to make predictions. </a:t>
            </a:r>
          </a:p>
          <a:p>
            <a:pPr algn="just"/>
            <a:r>
              <a:rPr lang="en-US" sz="1400" dirty="0"/>
              <a:t>They describe the characteristics of the data.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Also known as </a:t>
            </a:r>
            <a:r>
              <a:rPr lang="en-US" sz="1400" b="1" dirty="0"/>
              <a:t>independent variables</a:t>
            </a:r>
            <a:r>
              <a:rPr lang="en-US" sz="1400" dirty="0"/>
              <a:t> or </a:t>
            </a:r>
            <a:r>
              <a:rPr lang="en-US" sz="1400" b="1" dirty="0"/>
              <a:t>predictors</a:t>
            </a:r>
            <a:r>
              <a:rPr lang="en-US" sz="1400" dirty="0"/>
              <a:t>. </a:t>
            </a:r>
          </a:p>
          <a:p>
            <a:pPr algn="just"/>
            <a:r>
              <a:rPr lang="en-US" sz="1400" b="1" dirty="0"/>
              <a:t>Example: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 For predicting house prices, features might include: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Size of the house (sq. ft.)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Number of bedrooms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Age of the house</a:t>
            </a:r>
            <a:endParaRPr lang="en-IN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B732D2-1D5F-47CE-8E54-BDD790846A35}"/>
              </a:ext>
            </a:extLst>
          </p:cNvPr>
          <p:cNvSpPr/>
          <p:nvPr/>
        </p:nvSpPr>
        <p:spPr>
          <a:xfrm>
            <a:off x="116525" y="1331553"/>
            <a:ext cx="5325482" cy="2523757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7C36261-FD84-459E-9C69-9CD660EE0D64}"/>
              </a:ext>
            </a:extLst>
          </p:cNvPr>
          <p:cNvSpPr/>
          <p:nvPr/>
        </p:nvSpPr>
        <p:spPr>
          <a:xfrm>
            <a:off x="5854073" y="1384772"/>
            <a:ext cx="6096000" cy="2339102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3. Training</a:t>
            </a:r>
          </a:p>
          <a:p>
            <a:r>
              <a:rPr lang="en-US" sz="1400" b="1" dirty="0"/>
              <a:t>Training</a:t>
            </a:r>
            <a:r>
              <a:rPr lang="en-US" sz="1400" dirty="0"/>
              <a:t> is the process of teaching the machine learning model using a </a:t>
            </a:r>
            <a:r>
              <a:rPr lang="en-US" sz="1400" b="1" dirty="0"/>
              <a:t>training dataset</a:t>
            </a:r>
            <a:r>
              <a:rPr lang="en-US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During training, the model learns the relationship between features and labels by identifying patterns in the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goal is to build a model that can make accurate predictions on new data. </a:t>
            </a:r>
          </a:p>
          <a:p>
            <a:endParaRPr lang="en-US" sz="1400" b="1" dirty="0"/>
          </a:p>
          <a:p>
            <a:r>
              <a:rPr lang="en-US" sz="1400" b="1" dirty="0"/>
              <a:t>Example:</a:t>
            </a:r>
          </a:p>
          <a:p>
            <a:r>
              <a:rPr lang="en-US" sz="1400" dirty="0"/>
              <a:t> A model is trained using 8,000 labeled emails to learn how to distinguish spam from legitimate emails.</a:t>
            </a:r>
          </a:p>
        </p:txBody>
      </p:sp>
    </p:spTree>
    <p:extLst>
      <p:ext uri="{BB962C8B-B14F-4D97-AF65-F5344CB8AC3E}">
        <p14:creationId xmlns:p14="http://schemas.microsoft.com/office/powerpoint/2010/main" val="2817299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-9465" y="809992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946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Data Preprocessing &amp; EDA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70FBC2-E85C-46B5-8BA6-7CBDDC841EED}"/>
              </a:ext>
            </a:extLst>
          </p:cNvPr>
          <p:cNvSpPr txBox="1"/>
          <p:nvPr/>
        </p:nvSpPr>
        <p:spPr>
          <a:xfrm>
            <a:off x="8875" y="914393"/>
            <a:ext cx="4492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Preprocessing in Machine Learning</a:t>
            </a:r>
            <a:r>
              <a:rPr lang="en-IN" sz="2000" b="1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8E5A9D-52C6-480D-9925-274933BA2BEB}"/>
              </a:ext>
            </a:extLst>
          </p:cNvPr>
          <p:cNvSpPr txBox="1"/>
          <p:nvPr/>
        </p:nvSpPr>
        <p:spPr>
          <a:xfrm>
            <a:off x="4101483" y="986894"/>
            <a:ext cx="73477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Data preprocessing is the process of cleaning and transforming raw data into a suitable format for machine learning models.</a:t>
            </a:r>
            <a:endParaRPr lang="en-I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28A901-929E-4BB8-816F-282F890F8CE5}"/>
              </a:ext>
            </a:extLst>
          </p:cNvPr>
          <p:cNvSpPr/>
          <p:nvPr/>
        </p:nvSpPr>
        <p:spPr>
          <a:xfrm>
            <a:off x="0" y="1316462"/>
            <a:ext cx="6096000" cy="123110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Why is it important?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Improves model accuracy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Handles missing or inconsistent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Converts data into numerical form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Makes data suitable for algorithms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9F7721-09D7-4E82-90E6-CD0489F9E061}"/>
              </a:ext>
            </a:extLst>
          </p:cNvPr>
          <p:cNvSpPr/>
          <p:nvPr/>
        </p:nvSpPr>
        <p:spPr>
          <a:xfrm>
            <a:off x="0" y="2551875"/>
            <a:ext cx="29296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Handling Missing Values: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59CAA3-4CDA-4D84-A81B-7A70FDB89A11}"/>
              </a:ext>
            </a:extLst>
          </p:cNvPr>
          <p:cNvSpPr/>
          <p:nvPr/>
        </p:nvSpPr>
        <p:spPr>
          <a:xfrm>
            <a:off x="2920166" y="2485001"/>
            <a:ext cx="87415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Missing values occur when data is not recorded for some observations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45B13E-9CDC-4ED4-A598-8559E6B61FFB}"/>
              </a:ext>
            </a:extLst>
          </p:cNvPr>
          <p:cNvSpPr/>
          <p:nvPr/>
        </p:nvSpPr>
        <p:spPr>
          <a:xfrm>
            <a:off x="111192" y="2813166"/>
            <a:ext cx="244557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Problems caused: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Reduces accuracy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Bias in model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Incomplete analysis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BD5CFE-1D5E-4EFB-BDD3-83BA33F9FB77}"/>
              </a:ext>
            </a:extLst>
          </p:cNvPr>
          <p:cNvSpPr/>
          <p:nvPr/>
        </p:nvSpPr>
        <p:spPr>
          <a:xfrm>
            <a:off x="4659" y="3708896"/>
            <a:ext cx="35503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Methods to Handle Missing Values: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DE48EF2A-4459-4689-8F52-40B4539C3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" y="4077699"/>
            <a:ext cx="33061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fillna()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→ Replace missing values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Used when we want to keep all rows.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E12F09-B4E7-401E-A7A1-E46DE8347276}"/>
              </a:ext>
            </a:extLst>
          </p:cNvPr>
          <p:cNvSpPr/>
          <p:nvPr/>
        </p:nvSpPr>
        <p:spPr>
          <a:xfrm>
            <a:off x="-9465" y="4569852"/>
            <a:ext cx="9617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/>
              <a:t>Example</a:t>
            </a:r>
            <a:r>
              <a:rPr lang="en-IN" dirty="0"/>
              <a:t>: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B53611-DE7A-4BDA-BBBA-C56E878AF8A3}"/>
              </a:ext>
            </a:extLst>
          </p:cNvPr>
          <p:cNvSpPr/>
          <p:nvPr/>
        </p:nvSpPr>
        <p:spPr>
          <a:xfrm>
            <a:off x="111192" y="5538192"/>
            <a:ext cx="254493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Common strategies: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Mean (for numerical data)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Median (for skewed data)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Mode (for categorical data)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Constant value (0, "Unknown")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F84FE361-802C-4551-B303-F3E108382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789" y="4598034"/>
            <a:ext cx="3429144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import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Bahnschrift SemiBold" panose="020B0502040204020203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SemiBold" panose="020B0502040204020203" pitchFamily="34" charset="0"/>
              </a:rPr>
              <a:t>pandas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Bahnschrift SemiBold" panose="020B0502040204020203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SemiBold" panose="020B0502040204020203" pitchFamily="34" charset="0"/>
              </a:rPr>
              <a:t>pd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SemiBold" panose="020B0502040204020203" pitchFamily="34" charset="0"/>
              </a:rPr>
              <a:t>df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[</a:t>
            </a:r>
            <a:r>
              <a:rPr lang="en-US" altLang="en-US" sz="1400" dirty="0">
                <a:solidFill>
                  <a:schemeClr val="accent6"/>
                </a:solidFill>
                <a:latin typeface="Bahnschrift SemiBold" panose="020B0502040204020203" pitchFamily="34" charset="0"/>
              </a:rPr>
              <a:t>‘Age’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] 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SemiBold" panose="020B0502040204020203" pitchFamily="34" charset="0"/>
              </a:rPr>
              <a:t>df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[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Bahnschrift SemiBold" panose="020B0502040204020203" pitchFamily="34" charset="0"/>
              </a:rPr>
              <a:t>'Age'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].fillna(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SemiBold" panose="020B0502040204020203" pitchFamily="34" charset="0"/>
              </a:rPr>
              <a:t>df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[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Bahnschrift SemiBold" panose="020B0502040204020203" pitchFamily="34" charset="0"/>
              </a:rPr>
              <a:t>'Age'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].mean())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SemiBold" panose="020B0502040204020203" pitchFamily="34" charset="0"/>
              </a:rPr>
              <a:t>df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[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Bahnschrift SemiBold" panose="020B0502040204020203" pitchFamily="34" charset="0"/>
              </a:rPr>
              <a:t>'City'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] 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Bahnschrift SemiBold" panose="020B0502040204020203" pitchFamily="34" charset="0"/>
              </a:rPr>
              <a:t>df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[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Bahnschrift SemiBold" panose="020B0502040204020203" pitchFamily="34" charset="0"/>
              </a:rPr>
              <a:t>'City'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].fillna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 SemiBold" panose="020B0502040204020203" pitchFamily="34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Bahnschrift SemiBold" panose="020B0502040204020203" pitchFamily="34" charset="0"/>
              </a:rPr>
              <a:t>"Unknown“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 SemiBold" panose="020B0502040204020203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72CDD7-C977-4876-923F-54CEEF0BF76B}"/>
              </a:ext>
            </a:extLst>
          </p:cNvPr>
          <p:cNvSpPr/>
          <p:nvPr/>
        </p:nvSpPr>
        <p:spPr>
          <a:xfrm>
            <a:off x="871789" y="4569852"/>
            <a:ext cx="3498474" cy="10491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87DF43-CC46-4BAF-824F-6E77E87D16BB}"/>
              </a:ext>
            </a:extLst>
          </p:cNvPr>
          <p:cNvSpPr/>
          <p:nvPr/>
        </p:nvSpPr>
        <p:spPr>
          <a:xfrm>
            <a:off x="68697" y="4061609"/>
            <a:ext cx="4432282" cy="255764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EABD7194-40F0-4DEF-8336-EB3254A83CD1}"/>
              </a:ext>
            </a:extLst>
          </p:cNvPr>
          <p:cNvSpPr/>
          <p:nvPr/>
        </p:nvSpPr>
        <p:spPr>
          <a:xfrm>
            <a:off x="4906273" y="4531177"/>
            <a:ext cx="1003183" cy="4384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 dirty="0"/>
              <a:t>Example: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EA2B77-5695-4A3B-8634-64EB1749955C}"/>
              </a:ext>
            </a:extLst>
          </p:cNvPr>
          <p:cNvSpPr/>
          <p:nvPr/>
        </p:nvSpPr>
        <p:spPr>
          <a:xfrm>
            <a:off x="5938551" y="4804926"/>
            <a:ext cx="2353193" cy="64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916CEE2-ECFC-4E4E-94AA-E86E87454744}"/>
              </a:ext>
            </a:extLst>
          </p:cNvPr>
          <p:cNvSpPr/>
          <p:nvPr/>
        </p:nvSpPr>
        <p:spPr>
          <a:xfrm>
            <a:off x="6126959" y="4906485"/>
            <a:ext cx="16484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7030A0"/>
                </a:solidFill>
              </a:rPr>
              <a:t>df</a:t>
            </a:r>
            <a:r>
              <a:rPr lang="en-IN" dirty="0"/>
              <a:t> </a:t>
            </a:r>
            <a:r>
              <a:rPr lang="en-IN" dirty="0">
                <a:solidFill>
                  <a:srgbClr val="FF0000"/>
                </a:solidFill>
              </a:rPr>
              <a:t>=</a:t>
            </a:r>
            <a:r>
              <a:rPr lang="en-IN" dirty="0"/>
              <a:t> </a:t>
            </a:r>
            <a:r>
              <a:rPr lang="en-IN" dirty="0">
                <a:solidFill>
                  <a:srgbClr val="7030A0"/>
                </a:solidFill>
              </a:rPr>
              <a:t>df</a:t>
            </a:r>
            <a:r>
              <a:rPr lang="en-IN" dirty="0"/>
              <a:t>.dropna()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ED2DDA-16EC-4D8E-A101-F52AF067D704}"/>
              </a:ext>
            </a:extLst>
          </p:cNvPr>
          <p:cNvSpPr/>
          <p:nvPr/>
        </p:nvSpPr>
        <p:spPr>
          <a:xfrm>
            <a:off x="4906273" y="4070876"/>
            <a:ext cx="4591826" cy="523220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tx2"/>
                </a:solidFill>
                <a:latin typeface="Arial" panose="020B0604020202020204" pitchFamily="34" charset="0"/>
              </a:rPr>
              <a:t>2. </a:t>
            </a:r>
            <a:r>
              <a:rPr lang="en-US" altLang="en-US" sz="1400" b="1" dirty="0">
                <a:solidFill>
                  <a:schemeClr val="tx2"/>
                </a:solidFill>
                <a:latin typeface="Arial Unicode MS"/>
              </a:rPr>
              <a:t>dropna()</a:t>
            </a:r>
            <a:r>
              <a:rPr lang="en-US" altLang="en-US" sz="1400" b="1" dirty="0">
                <a:solidFill>
                  <a:schemeClr val="tx2"/>
                </a:solidFill>
              </a:rPr>
              <a:t> </a:t>
            </a:r>
            <a:r>
              <a:rPr lang="en-US" altLang="en-US" sz="1400" b="1" dirty="0"/>
              <a:t>→ Remove missing values</a:t>
            </a:r>
            <a:endParaRPr lang="en-US" altLang="en-US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Used when missing data is large or not important.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2BA712-D092-443E-8B13-CAD17B4605C8}"/>
              </a:ext>
            </a:extLst>
          </p:cNvPr>
          <p:cNvSpPr/>
          <p:nvPr/>
        </p:nvSpPr>
        <p:spPr>
          <a:xfrm>
            <a:off x="4906273" y="4061609"/>
            <a:ext cx="4621537" cy="254876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910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244CAC-0783-4702-BFF6-1BA989D4BAAE}"/>
              </a:ext>
            </a:extLst>
          </p:cNvPr>
          <p:cNvSpPr/>
          <p:nvPr/>
        </p:nvSpPr>
        <p:spPr>
          <a:xfrm>
            <a:off x="12879" y="222639"/>
            <a:ext cx="48241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Encoding Categorical Variables: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112BBC-CFFC-479F-AEAB-BD403F2F8E86}"/>
              </a:ext>
            </a:extLst>
          </p:cNvPr>
          <p:cNvSpPr/>
          <p:nvPr/>
        </p:nvSpPr>
        <p:spPr>
          <a:xfrm>
            <a:off x="-31071" y="886294"/>
            <a:ext cx="121121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Encoding categorical variables means converting </a:t>
            </a:r>
            <a:r>
              <a:rPr lang="en-US" sz="1400" b="1" dirty="0"/>
              <a:t>text-based data (categories)</a:t>
            </a:r>
            <a:r>
              <a:rPr lang="en-US" sz="1400" dirty="0"/>
              <a:t> into </a:t>
            </a:r>
            <a:r>
              <a:rPr lang="en-US" sz="1400" b="1" dirty="0"/>
              <a:t>numerical form</a:t>
            </a:r>
            <a:r>
              <a:rPr lang="en-US" sz="1400" dirty="0"/>
              <a:t>, so that machine learning models can understand and process it.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E9365D-38A0-401E-810E-F285D6941C27}"/>
              </a:ext>
            </a:extLst>
          </p:cNvPr>
          <p:cNvSpPr/>
          <p:nvPr/>
        </p:nvSpPr>
        <p:spPr>
          <a:xfrm>
            <a:off x="-31071" y="115592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Why Encoding is Important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ML models cannot process text directly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Converts categories into machine-readable format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Improves model performance and compatibility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Required step in data preprocessing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21A34F-16E2-49F4-AD89-9863238F04A4}"/>
              </a:ext>
            </a:extLst>
          </p:cNvPr>
          <p:cNvSpPr/>
          <p:nvPr/>
        </p:nvSpPr>
        <p:spPr>
          <a:xfrm>
            <a:off x="-31071" y="2366879"/>
            <a:ext cx="24236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Types of Encoding: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F22C89-15FB-4E44-BEB8-F1A3FF9A63F3}"/>
              </a:ext>
            </a:extLst>
          </p:cNvPr>
          <p:cNvSpPr/>
          <p:nvPr/>
        </p:nvSpPr>
        <p:spPr>
          <a:xfrm>
            <a:off x="-31071" y="2789316"/>
            <a:ext cx="19051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1. Label Encoding: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D0575D-09A5-4EE0-90C1-9567D02DDA76}"/>
              </a:ext>
            </a:extLst>
          </p:cNvPr>
          <p:cNvSpPr/>
          <p:nvPr/>
        </p:nvSpPr>
        <p:spPr>
          <a:xfrm>
            <a:off x="7816912" y="2834784"/>
            <a:ext cx="41789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One-Hot Encoding creates a </a:t>
            </a:r>
            <a:r>
              <a:rPr lang="en-US" sz="1400" b="1" dirty="0"/>
              <a:t>separate column for each category</a:t>
            </a:r>
            <a:r>
              <a:rPr lang="en-US" sz="1400" dirty="0"/>
              <a:t> and uses:</a:t>
            </a:r>
          </a:p>
          <a:p>
            <a:r>
              <a:rPr lang="en-US" sz="1400" dirty="0"/>
              <a:t>1 → category is present </a:t>
            </a:r>
          </a:p>
          <a:p>
            <a:r>
              <a:rPr lang="en-US" sz="1400" dirty="0"/>
              <a:t>0 → category is not present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4CD6DA-1BB7-46FD-B8B6-2E71380F8CF2}"/>
              </a:ext>
            </a:extLst>
          </p:cNvPr>
          <p:cNvSpPr/>
          <p:nvPr/>
        </p:nvSpPr>
        <p:spPr>
          <a:xfrm>
            <a:off x="5541706" y="2772681"/>
            <a:ext cx="2212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2. One-Hot Encoding: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4197C3-9EE4-4078-BE27-1EDC6979A3B5}"/>
              </a:ext>
            </a:extLst>
          </p:cNvPr>
          <p:cNvSpPr/>
          <p:nvPr/>
        </p:nvSpPr>
        <p:spPr>
          <a:xfrm>
            <a:off x="8875" y="3161374"/>
            <a:ext cx="101174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Label Encoding converts each category into a </a:t>
            </a:r>
            <a:r>
              <a:rPr lang="en-US" sz="1400" b="1" dirty="0"/>
              <a:t>unique integer value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4E3DF85-40AA-4404-A29B-EF5D7D125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5" y="3779778"/>
            <a:ext cx="7745744" cy="265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240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-1" y="82234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chemeClr val="tx2"/>
                </a:solidFill>
              </a:rPr>
              <a:t>Feature Scaling: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4170B0A-A194-4208-B495-8932DF711739}"/>
              </a:ext>
            </a:extLst>
          </p:cNvPr>
          <p:cNvSpPr/>
          <p:nvPr/>
        </p:nvSpPr>
        <p:spPr>
          <a:xfrm>
            <a:off x="8346" y="941201"/>
            <a:ext cx="459028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Feature scaling is the process of transforming numerical features into a </a:t>
            </a:r>
            <a:r>
              <a:rPr lang="en-US" sz="1400" b="1" dirty="0"/>
              <a:t>common scale</a:t>
            </a:r>
            <a:r>
              <a:rPr lang="en-US" sz="1400" dirty="0"/>
              <a:t> so that all variables contribute equally to machine learning models.</a:t>
            </a:r>
            <a:endParaRPr lang="en-IN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74CE17-1922-47F3-AB0F-E6A299FA240A}"/>
              </a:ext>
            </a:extLst>
          </p:cNvPr>
          <p:cNvSpPr/>
          <p:nvPr/>
        </p:nvSpPr>
        <p:spPr>
          <a:xfrm>
            <a:off x="8345" y="1535998"/>
            <a:ext cx="21373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1. StandardScaler</a:t>
            </a:r>
            <a:r>
              <a:rPr lang="en-IN" sz="2000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D71A68B-EF85-4FBC-BDE1-8F831718C8DF}"/>
              </a:ext>
            </a:extLst>
          </p:cNvPr>
          <p:cNvSpPr/>
          <p:nvPr/>
        </p:nvSpPr>
        <p:spPr>
          <a:xfrm>
            <a:off x="23835" y="1892170"/>
            <a:ext cx="31586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StandardScaler transforms data so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Mean = 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Standard deviation = 1 </a:t>
            </a:r>
          </a:p>
          <a:p>
            <a:r>
              <a:rPr lang="en-US" sz="1400" dirty="0"/>
              <a:t>This is also called </a:t>
            </a:r>
            <a:r>
              <a:rPr lang="en-US" sz="1400" b="1" dirty="0"/>
              <a:t>Z-score normalization</a:t>
            </a:r>
            <a:r>
              <a:rPr lang="en-US" sz="1400" dirty="0"/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AA4E9A-1932-49E2-B449-A7095F9E1562}"/>
              </a:ext>
            </a:extLst>
          </p:cNvPr>
          <p:cNvSpPr txBox="1"/>
          <p:nvPr/>
        </p:nvSpPr>
        <p:spPr>
          <a:xfrm>
            <a:off x="44052" y="2848326"/>
            <a:ext cx="968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Formula:</a:t>
            </a:r>
            <a:endParaRPr lang="en-IN" sz="1600" b="1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4720D90-7B2E-4EFD-BA96-27D2BCD67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44" y="2910330"/>
            <a:ext cx="1467055" cy="383211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2F763809-869D-4077-9FC4-6A661FE54A6A}"/>
              </a:ext>
            </a:extLst>
          </p:cNvPr>
          <p:cNvSpPr/>
          <p:nvPr/>
        </p:nvSpPr>
        <p:spPr>
          <a:xfrm>
            <a:off x="79759" y="3252031"/>
            <a:ext cx="245037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X = original value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μ = mean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σ = standard deviation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79F71BE-81DD-4939-92B5-85F600E1B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0977" y="5061707"/>
            <a:ext cx="1667108" cy="639192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FE960A05-319E-46EF-89AF-C16C54D1E0CA}"/>
              </a:ext>
            </a:extLst>
          </p:cNvPr>
          <p:cNvSpPr/>
          <p:nvPr/>
        </p:nvSpPr>
        <p:spPr>
          <a:xfrm>
            <a:off x="23835" y="4192330"/>
            <a:ext cx="20755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2. MinMaxScaler: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55A0B84-2176-4107-9646-8B932F4A61A6}"/>
              </a:ext>
            </a:extLst>
          </p:cNvPr>
          <p:cNvSpPr/>
          <p:nvPr/>
        </p:nvSpPr>
        <p:spPr>
          <a:xfrm>
            <a:off x="11546" y="4641377"/>
            <a:ext cx="47873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MinMaxScaler</a:t>
            </a:r>
            <a:r>
              <a:rPr lang="en-US" sz="1400" dirty="0"/>
              <a:t> rescales features to a fixed range, usually </a:t>
            </a:r>
            <a:r>
              <a:rPr lang="en-US" sz="1400" b="1" dirty="0"/>
              <a:t>0 to 1</a:t>
            </a:r>
            <a:r>
              <a:rPr lang="en-US" sz="1400" dirty="0"/>
              <a:t>.</a:t>
            </a:r>
            <a:endParaRPr lang="en-IN" sz="14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08E869C-42B7-4DE3-84FD-1E76B9F7BFBC}"/>
              </a:ext>
            </a:extLst>
          </p:cNvPr>
          <p:cNvSpPr/>
          <p:nvPr/>
        </p:nvSpPr>
        <p:spPr>
          <a:xfrm>
            <a:off x="127756" y="4967584"/>
            <a:ext cx="9737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Formula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0D8172EE-94F0-4878-B1AA-C71FD49D2E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105" y="5525227"/>
            <a:ext cx="2095792" cy="100979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6CFB656-24B3-4B21-A37F-4AD4D0434FBB}"/>
              </a:ext>
            </a:extLst>
          </p:cNvPr>
          <p:cNvSpPr/>
          <p:nvPr/>
        </p:nvSpPr>
        <p:spPr>
          <a:xfrm>
            <a:off x="5961513" y="1310533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Train-test split is the process of dividing a dataset into </a:t>
            </a:r>
            <a:r>
              <a:rPr lang="en-US" sz="1400" b="1" dirty="0"/>
              <a:t>two separate parts</a:t>
            </a:r>
            <a:r>
              <a:rPr lang="en-US" sz="1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Training Set</a:t>
            </a:r>
            <a:r>
              <a:rPr lang="en-US" sz="1400" dirty="0"/>
              <a:t> – Used to train the machine learning model.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Testing Set</a:t>
            </a:r>
            <a:r>
              <a:rPr lang="en-US" sz="1400" dirty="0"/>
              <a:t> – Used to evaluate the model's performance on unseen data. </a:t>
            </a: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BEBCCCDF-A661-4C4B-A5AB-68228E0B58BD}"/>
              </a:ext>
            </a:extLst>
          </p:cNvPr>
          <p:cNvSpPr/>
          <p:nvPr/>
        </p:nvSpPr>
        <p:spPr>
          <a:xfrm>
            <a:off x="5961513" y="684616"/>
            <a:ext cx="32549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chemeClr val="tx2"/>
                </a:solidFill>
              </a:rPr>
              <a:t>Train-Test Split: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DC776E2-9E71-40EF-BBBE-5DE5DB3E34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5025" y="2049197"/>
            <a:ext cx="4248743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10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77369" y="13923"/>
            <a:ext cx="1176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Exploratory Data Analysis (EDA):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2077177" y="362722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D3E621-3EF7-4696-ADEF-1E515D5B441D}"/>
              </a:ext>
            </a:extLst>
          </p:cNvPr>
          <p:cNvSpPr/>
          <p:nvPr/>
        </p:nvSpPr>
        <p:spPr>
          <a:xfrm>
            <a:off x="1" y="892349"/>
            <a:ext cx="620782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Exploratory Data Analysis (EDA)</a:t>
            </a:r>
            <a:r>
              <a:rPr lang="en-US" sz="1400" dirty="0"/>
              <a:t> is the process of analyzing and visualizing a dataset to understand its structure, patterns, relationships, and anomalies before building a machine learning model.</a:t>
            </a:r>
            <a:endParaRPr lang="en-IN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6933FA-C455-4871-A430-6699A246789B}"/>
              </a:ext>
            </a:extLst>
          </p:cNvPr>
          <p:cNvSpPr/>
          <p:nvPr/>
        </p:nvSpPr>
        <p:spPr>
          <a:xfrm>
            <a:off x="35512" y="1595755"/>
            <a:ext cx="23043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Libraries Used for EDA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C37F81-8CE5-4CF8-AC16-AD514BDF144A}"/>
              </a:ext>
            </a:extLst>
          </p:cNvPr>
          <p:cNvSpPr/>
          <p:nvPr/>
        </p:nvSpPr>
        <p:spPr>
          <a:xfrm>
            <a:off x="0" y="1965087"/>
            <a:ext cx="1428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1. Matplotlib</a:t>
            </a: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B4AFFCD8-8CC6-43CA-891D-5BBBE9081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01" y="2087006"/>
            <a:ext cx="538641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Creates line charts, bar charts, histograms, scatter plots, etc.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 customizable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plotting library in Python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F5B806-622B-4530-BEBF-3FE5DA429C4D}"/>
              </a:ext>
            </a:extLst>
          </p:cNvPr>
          <p:cNvSpPr/>
          <p:nvPr/>
        </p:nvSpPr>
        <p:spPr>
          <a:xfrm>
            <a:off x="35512" y="3436434"/>
            <a:ext cx="1189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chemeClr val="tx2"/>
                </a:solidFill>
              </a:rPr>
              <a:t>2. Seaborn</a:t>
            </a: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0C7C2796-6FEF-417C-B2C8-2D6766606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64978"/>
            <a:ext cx="510107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 attractive and informative statistical visualizations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less code than Matplotlib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on top of Matplotlib 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7B9E71C-1E24-40EC-9911-EA87C41EF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015" y="1951019"/>
            <a:ext cx="4062249" cy="417544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07BCC219-7065-4025-852A-B45D7EC38EE6}"/>
              </a:ext>
            </a:extLst>
          </p:cNvPr>
          <p:cNvSpPr/>
          <p:nvPr/>
        </p:nvSpPr>
        <p:spPr>
          <a:xfrm>
            <a:off x="6207822" y="1643305"/>
            <a:ext cx="26047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Common EDA Workflow :</a:t>
            </a:r>
            <a:endParaRPr lang="en-IN" b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D64765-4ECB-40F5-A5B2-3FC5F2226434}"/>
              </a:ext>
            </a:extLst>
          </p:cNvPr>
          <p:cNvSpPr/>
          <p:nvPr/>
        </p:nvSpPr>
        <p:spPr>
          <a:xfrm>
            <a:off x="24101" y="4679504"/>
            <a:ext cx="30846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dirty="0">
                <a:solidFill>
                  <a:schemeClr val="accent5"/>
                </a:solidFill>
              </a:rPr>
              <a:t>Common Visualization Techniques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24E498A-7366-4814-95E1-5F5BD1FC0C35}"/>
              </a:ext>
            </a:extLst>
          </p:cNvPr>
          <p:cNvSpPr/>
          <p:nvPr/>
        </p:nvSpPr>
        <p:spPr>
          <a:xfrm>
            <a:off x="35512" y="5098576"/>
            <a:ext cx="704628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1600" b="1" dirty="0"/>
              <a:t>Histogram :   </a:t>
            </a:r>
            <a:r>
              <a:rPr lang="en-US" sz="1600" dirty="0"/>
              <a:t>Shows the distribution of numerical data.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/>
              <a:t> Box Plot :      </a:t>
            </a:r>
            <a:r>
              <a:rPr lang="en-US" sz="1600" dirty="0"/>
              <a:t>Detects outliers and shows data spread.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/>
              <a:t> </a:t>
            </a:r>
            <a:r>
              <a:rPr lang="en-IN" sz="1600" b="1" dirty="0"/>
              <a:t>Scatter Plot :</a:t>
            </a:r>
            <a:r>
              <a:rPr lang="en-US" sz="1600" dirty="0"/>
              <a:t>Shows the relationship between two numerical variables.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/>
              <a:t>Bar Chart :     </a:t>
            </a:r>
            <a:r>
              <a:rPr lang="en-IN" sz="1600" dirty="0"/>
              <a:t>Compares different categories.</a:t>
            </a:r>
          </a:p>
        </p:txBody>
      </p:sp>
    </p:spTree>
    <p:extLst>
      <p:ext uri="{BB962C8B-B14F-4D97-AF65-F5344CB8AC3E}">
        <p14:creationId xmlns:p14="http://schemas.microsoft.com/office/powerpoint/2010/main" val="2054629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0" y="10131"/>
            <a:ext cx="1176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Linear &amp; Logistic Regression 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2DE8A8-4F9C-49D3-8480-E2F0E58A0525}"/>
              </a:ext>
            </a:extLst>
          </p:cNvPr>
          <p:cNvSpPr/>
          <p:nvPr/>
        </p:nvSpPr>
        <p:spPr>
          <a:xfrm>
            <a:off x="0" y="916114"/>
            <a:ext cx="21240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/>
              <a:t>Linear Regression: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1460B4-AA7C-47EC-A6EF-B11294FE5CA4}"/>
              </a:ext>
            </a:extLst>
          </p:cNvPr>
          <p:cNvSpPr/>
          <p:nvPr/>
        </p:nvSpPr>
        <p:spPr>
          <a:xfrm>
            <a:off x="2053022" y="964071"/>
            <a:ext cx="100028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/>
              <a:t>Linear Regression</a:t>
            </a:r>
            <a:r>
              <a:rPr lang="en-US" sz="1400" dirty="0"/>
              <a:t> is a supervised machine learning algorithm used to predict a </a:t>
            </a:r>
            <a:r>
              <a:rPr lang="en-US" sz="1400" b="1" dirty="0"/>
              <a:t>continuous numerical value</a:t>
            </a:r>
            <a:r>
              <a:rPr lang="en-US" sz="1400" dirty="0"/>
              <a:t> based on one or more input features.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25FD64-A678-4190-B834-4EBEB7F8FB10}"/>
              </a:ext>
            </a:extLst>
          </p:cNvPr>
          <p:cNvSpPr/>
          <p:nvPr/>
        </p:nvSpPr>
        <p:spPr>
          <a:xfrm>
            <a:off x="133833" y="1288249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Predicting house prices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Predicting employee salary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BF5B93-3ACB-43BA-9BAF-910C3424834F}"/>
              </a:ext>
            </a:extLst>
          </p:cNvPr>
          <p:cNvSpPr/>
          <p:nvPr/>
        </p:nvSpPr>
        <p:spPr>
          <a:xfrm>
            <a:off x="88079" y="2116882"/>
            <a:ext cx="3396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Cost Function (Error Function):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DB2711-1022-44B7-A54B-E913DF16D8C1}"/>
              </a:ext>
            </a:extLst>
          </p:cNvPr>
          <p:cNvSpPr/>
          <p:nvPr/>
        </p:nvSpPr>
        <p:spPr>
          <a:xfrm>
            <a:off x="82858" y="2464258"/>
            <a:ext cx="28797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It measures how wrong the model is.</a:t>
            </a:r>
            <a:endParaRPr lang="en-IN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DA2DACC-E540-4C38-AF2A-21D5AB1C0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4832" y="2762082"/>
            <a:ext cx="2026688" cy="4573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F077A5-B446-46F6-B74E-7801893775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833" y="3442522"/>
            <a:ext cx="5543282" cy="13416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31E7ED-4971-4CE0-8C19-C43E011AD074}"/>
              </a:ext>
            </a:extLst>
          </p:cNvPr>
          <p:cNvSpPr txBox="1"/>
          <p:nvPr/>
        </p:nvSpPr>
        <p:spPr>
          <a:xfrm>
            <a:off x="82858" y="3135109"/>
            <a:ext cx="790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where</a:t>
            </a:r>
            <a:endParaRPr lang="en-IN" sz="1400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2FA92E-FDD1-4DC8-9B26-667F0C18F2BF}"/>
              </a:ext>
            </a:extLst>
          </p:cNvPr>
          <p:cNvSpPr/>
          <p:nvPr/>
        </p:nvSpPr>
        <p:spPr>
          <a:xfrm>
            <a:off x="6351364" y="1975702"/>
            <a:ext cx="24441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Gradient Descent: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047E4D-F24C-4456-AA04-16C2840E3C3E}"/>
              </a:ext>
            </a:extLst>
          </p:cNvPr>
          <p:cNvSpPr/>
          <p:nvPr/>
        </p:nvSpPr>
        <p:spPr>
          <a:xfrm>
            <a:off x="6628570" y="2375812"/>
            <a:ext cx="55634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Gradient Descent</a:t>
            </a:r>
            <a:r>
              <a:rPr lang="en-US" sz="1400" dirty="0"/>
              <a:t> is an algorithm used to </a:t>
            </a:r>
            <a:r>
              <a:rPr lang="en-US" sz="1400" b="1" dirty="0"/>
              <a:t>reduce the cost (error)</a:t>
            </a:r>
            <a:r>
              <a:rPr lang="en-US" sz="1400" dirty="0"/>
              <a:t> by updating the model's parameters (weights).</a:t>
            </a:r>
            <a:endParaRPr lang="en-IN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870E3C-3951-4CB6-AFEE-61E074F933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0285" y="2926372"/>
            <a:ext cx="1600423" cy="7144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743077E-1D33-48DC-BA41-9CBB1418D585}"/>
              </a:ext>
            </a:extLst>
          </p:cNvPr>
          <p:cNvSpPr txBox="1"/>
          <p:nvPr/>
        </p:nvSpPr>
        <p:spPr>
          <a:xfrm>
            <a:off x="8389881" y="2886773"/>
            <a:ext cx="8966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Formula:</a:t>
            </a:r>
            <a:endParaRPr lang="en-IN" sz="14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241C31-2513-48E5-8435-DA8FF0F8507F}"/>
              </a:ext>
            </a:extLst>
          </p:cNvPr>
          <p:cNvSpPr/>
          <p:nvPr/>
        </p:nvSpPr>
        <p:spPr>
          <a:xfrm>
            <a:off x="1300873" y="2669132"/>
            <a:ext cx="84933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Formula:</a:t>
            </a:r>
            <a:endParaRPr lang="en-IN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F66C3E3-016F-435C-9858-43C9F892FB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2873" y="3503842"/>
            <a:ext cx="3950425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30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0" y="10131"/>
            <a:ext cx="1176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/>
              <a:t>Logistic Regression for Binary Classification: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BAFB7A-6BB2-401B-915C-E7ABA1E93614}"/>
              </a:ext>
            </a:extLst>
          </p:cNvPr>
          <p:cNvSpPr/>
          <p:nvPr/>
        </p:nvSpPr>
        <p:spPr>
          <a:xfrm>
            <a:off x="67055" y="880541"/>
            <a:ext cx="565904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Logistic Regression</a:t>
            </a:r>
            <a:r>
              <a:rPr lang="en-US" sz="1400" dirty="0"/>
              <a:t> is a machine learning algorithm used to </a:t>
            </a:r>
            <a:r>
              <a:rPr lang="en-US" sz="1400" b="1" dirty="0"/>
              <a:t>classify data into two groups</a:t>
            </a:r>
            <a:r>
              <a:rPr lang="en-US" sz="1400" dirty="0"/>
              <a:t>.</a:t>
            </a:r>
          </a:p>
          <a:p>
            <a:r>
              <a:rPr lang="en-US" sz="1400" dirty="0"/>
              <a:t>This is called </a:t>
            </a:r>
            <a:r>
              <a:rPr lang="en-US" sz="1400" b="1" dirty="0"/>
              <a:t>binary classification</a:t>
            </a:r>
            <a:r>
              <a:rPr lang="en-US" sz="1400" dirty="0"/>
              <a:t> because there are only </a:t>
            </a:r>
            <a:r>
              <a:rPr lang="en-US" sz="1400" b="1" dirty="0"/>
              <a:t>two possible outputs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 0 = No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 1 = Yes</a:t>
            </a:r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18A3FD-7981-4343-9AF5-032511CE26FB}"/>
              </a:ext>
            </a:extLst>
          </p:cNvPr>
          <p:cNvSpPr/>
          <p:nvPr/>
        </p:nvSpPr>
        <p:spPr>
          <a:xfrm>
            <a:off x="67055" y="2123053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</a:rPr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Email → </a:t>
            </a:r>
            <a:r>
              <a:rPr lang="en-US" sz="1400" b="1" dirty="0"/>
              <a:t>Spam (1)</a:t>
            </a:r>
            <a:r>
              <a:rPr lang="en-US" sz="1400" dirty="0"/>
              <a:t> or </a:t>
            </a:r>
            <a:r>
              <a:rPr lang="en-US" sz="1400" b="1" dirty="0"/>
              <a:t>Not Spam (0)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Student → </a:t>
            </a:r>
            <a:r>
              <a:rPr lang="en-US" sz="1400" b="1" dirty="0"/>
              <a:t>Pass (1)</a:t>
            </a:r>
            <a:r>
              <a:rPr lang="en-US" sz="1400" dirty="0"/>
              <a:t> or </a:t>
            </a:r>
            <a:r>
              <a:rPr lang="en-US" sz="1400" b="1" dirty="0"/>
              <a:t>Fail (0)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92D822-BD42-47BD-9181-22EAEDE8B5CC}"/>
              </a:ext>
            </a:extLst>
          </p:cNvPr>
          <p:cNvSpPr/>
          <p:nvPr/>
        </p:nvSpPr>
        <p:spPr>
          <a:xfrm>
            <a:off x="6367982" y="951400"/>
            <a:ext cx="22241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Sigmoid Function: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7FDF9E-14DF-4A2C-B693-87AB7D227952}"/>
              </a:ext>
            </a:extLst>
          </p:cNvPr>
          <p:cNvSpPr/>
          <p:nvPr/>
        </p:nvSpPr>
        <p:spPr>
          <a:xfrm>
            <a:off x="6465905" y="1222874"/>
            <a:ext cx="58740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The </a:t>
            </a:r>
            <a:r>
              <a:rPr lang="en-US" sz="1400" b="1" dirty="0"/>
              <a:t>Sigmoid Function</a:t>
            </a:r>
            <a:r>
              <a:rPr lang="en-US" sz="1400" dirty="0"/>
              <a:t> is a mathematical function used in </a:t>
            </a:r>
            <a:r>
              <a:rPr lang="en-US" sz="1400" b="1" dirty="0"/>
              <a:t>Logistic Regression</a:t>
            </a:r>
            <a:r>
              <a:rPr lang="en-US" sz="1400" dirty="0"/>
              <a:t>.</a:t>
            </a:r>
          </a:p>
          <a:p>
            <a:r>
              <a:rPr lang="en-US" sz="1400" dirty="0"/>
              <a:t>Its job is to </a:t>
            </a:r>
            <a:r>
              <a:rPr lang="en-US" sz="1400" b="1" dirty="0"/>
              <a:t>convert any number into a probability between 0 and 1</a:t>
            </a:r>
            <a:r>
              <a:rPr lang="en-US" sz="1400" dirty="0"/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294AA1-B591-4645-9BC1-E387FA3D4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057" y="1750787"/>
            <a:ext cx="1971950" cy="76210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C2B4C2B-4EE6-46CD-B591-D669204D764B}"/>
              </a:ext>
            </a:extLst>
          </p:cNvPr>
          <p:cNvSpPr txBox="1"/>
          <p:nvPr/>
        </p:nvSpPr>
        <p:spPr>
          <a:xfrm>
            <a:off x="6702641" y="1702915"/>
            <a:ext cx="878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</a:rPr>
              <a:t>Formula:</a:t>
            </a:r>
            <a:endParaRPr lang="en-IN" sz="1400" b="1" dirty="0">
              <a:solidFill>
                <a:schemeClr val="tx2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C4427F4-5CB9-4372-87AC-6121AF1AD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641" y="2614499"/>
            <a:ext cx="3905795" cy="162900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377A3A9-5AEC-421D-B620-DA35025135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350" y="3410968"/>
            <a:ext cx="5397298" cy="189968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306B36F-34E0-41B7-8928-071D30869D7E}"/>
              </a:ext>
            </a:extLst>
          </p:cNvPr>
          <p:cNvSpPr/>
          <p:nvPr/>
        </p:nvSpPr>
        <p:spPr>
          <a:xfrm>
            <a:off x="232993" y="3267996"/>
            <a:ext cx="5572484" cy="214923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62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0" y="10131"/>
            <a:ext cx="1176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Metrics: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1609817" y="253498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3A4659-1ACD-4611-8A31-92C4AE5E0411}"/>
              </a:ext>
            </a:extLst>
          </p:cNvPr>
          <p:cNvSpPr/>
          <p:nvPr/>
        </p:nvSpPr>
        <p:spPr>
          <a:xfrm>
            <a:off x="91515" y="1021469"/>
            <a:ext cx="2866227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 dirty="0"/>
              <a:t>MSE (Mean Squared Error):</a:t>
            </a:r>
          </a:p>
          <a:p>
            <a:r>
              <a:rPr lang="en-US" sz="1400" dirty="0"/>
              <a:t>MSE tells </a:t>
            </a:r>
            <a:r>
              <a:rPr lang="en-US" sz="1400" b="1" dirty="0"/>
              <a:t>how far predictions are from actual values.</a:t>
            </a:r>
          </a:p>
          <a:p>
            <a:r>
              <a:rPr lang="en-US" sz="1600" b="1" dirty="0"/>
              <a:t>Formula:</a:t>
            </a:r>
          </a:p>
          <a:p>
            <a:endParaRPr lang="en-US" sz="1600" b="1" dirty="0"/>
          </a:p>
          <a:p>
            <a:endParaRPr lang="en-US" sz="1600" b="1" dirty="0"/>
          </a:p>
          <a:p>
            <a:r>
              <a:rPr lang="en-IN" sz="1400" dirty="0"/>
              <a:t>Lower MSE = better model</a:t>
            </a:r>
            <a:endParaRPr lang="en-US" sz="14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080F49-3ED3-4172-9BDC-E2B6E2B4574B}"/>
              </a:ext>
            </a:extLst>
          </p:cNvPr>
          <p:cNvSpPr/>
          <p:nvPr/>
        </p:nvSpPr>
        <p:spPr>
          <a:xfrm>
            <a:off x="0" y="154509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821114-82D2-4953-A686-070A90757E81}"/>
              </a:ext>
            </a:extLst>
          </p:cNvPr>
          <p:cNvSpPr/>
          <p:nvPr/>
        </p:nvSpPr>
        <p:spPr>
          <a:xfrm>
            <a:off x="152400" y="169749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F12C9D-0D2A-4B8C-909F-6D7C2E8B5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427" y="1846299"/>
            <a:ext cx="1895740" cy="5525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5F303EA-5D37-4ED1-9746-813F0858CF90}"/>
              </a:ext>
            </a:extLst>
          </p:cNvPr>
          <p:cNvSpPr/>
          <p:nvPr/>
        </p:nvSpPr>
        <p:spPr>
          <a:xfrm>
            <a:off x="3670908" y="1039225"/>
            <a:ext cx="2987345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 dirty="0"/>
              <a:t> RMSE (Root Mean Squared Error):</a:t>
            </a:r>
          </a:p>
          <a:p>
            <a:r>
              <a:rPr lang="en-US" sz="1400" dirty="0"/>
              <a:t>RMSE is just </a:t>
            </a:r>
            <a:r>
              <a:rPr lang="en-US" sz="1400" b="1" dirty="0"/>
              <a:t>square root of MSE</a:t>
            </a:r>
          </a:p>
          <a:p>
            <a:r>
              <a:rPr lang="en-US" sz="1600" b="1" dirty="0"/>
              <a:t>F</a:t>
            </a:r>
            <a:r>
              <a:rPr lang="en-IN" sz="1600" b="1" dirty="0"/>
              <a:t>ormula:</a:t>
            </a:r>
          </a:p>
          <a:p>
            <a:endParaRPr lang="en-US" sz="1600" b="1" dirty="0"/>
          </a:p>
          <a:p>
            <a:r>
              <a:rPr lang="en-US" sz="1400" dirty="0"/>
              <a:t>Shows error in </a:t>
            </a:r>
            <a:r>
              <a:rPr lang="en-US" sz="1400" b="1" dirty="0"/>
              <a:t>original units</a:t>
            </a:r>
          </a:p>
          <a:p>
            <a:endParaRPr lang="en-US" sz="16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AE61464-5D04-445E-81A8-78F5937FB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817" y="1826037"/>
            <a:ext cx="1600423" cy="34294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E4A9D2C-0903-422E-8F1D-8B70A1D7D8C3}"/>
              </a:ext>
            </a:extLst>
          </p:cNvPr>
          <p:cNvSpPr/>
          <p:nvPr/>
        </p:nvSpPr>
        <p:spPr>
          <a:xfrm>
            <a:off x="8039362" y="1056505"/>
            <a:ext cx="2987345" cy="16312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R² Score:</a:t>
            </a:r>
          </a:p>
          <a:p>
            <a:r>
              <a:rPr lang="en-US" sz="1400" dirty="0"/>
              <a:t>Shows how well model explains data.</a:t>
            </a:r>
          </a:p>
          <a:p>
            <a:r>
              <a:rPr lang="en-US" sz="1400" b="1" dirty="0"/>
              <a:t>Range:</a:t>
            </a:r>
          </a:p>
          <a:p>
            <a:r>
              <a:rPr lang="en-US" sz="1400" dirty="0"/>
              <a:t>1 → Perfect model </a:t>
            </a:r>
          </a:p>
          <a:p>
            <a:r>
              <a:rPr lang="en-US" sz="1400" dirty="0"/>
              <a:t>0 → Bad model </a:t>
            </a:r>
          </a:p>
          <a:p>
            <a:r>
              <a:rPr lang="en-US" sz="1400" dirty="0"/>
              <a:t>Negative → Worse model</a:t>
            </a:r>
          </a:p>
          <a:p>
            <a:endParaRPr lang="en-US" sz="14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2E5EAA-7596-4E1C-AB4C-7742E4132874}"/>
              </a:ext>
            </a:extLst>
          </p:cNvPr>
          <p:cNvSpPr/>
          <p:nvPr/>
        </p:nvSpPr>
        <p:spPr>
          <a:xfrm>
            <a:off x="55611" y="3286395"/>
            <a:ext cx="2902131" cy="2000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Accuracy:</a:t>
            </a:r>
          </a:p>
          <a:p>
            <a:r>
              <a:rPr lang="en-US" sz="1400" dirty="0"/>
              <a:t>Accuracy tells </a:t>
            </a:r>
            <a:r>
              <a:rPr lang="en-US" sz="1400" b="1" dirty="0"/>
              <a:t>how many predictions are correct</a:t>
            </a:r>
          </a:p>
          <a:p>
            <a:r>
              <a:rPr lang="en-US" sz="1600" b="1" dirty="0"/>
              <a:t>Formula:</a:t>
            </a:r>
          </a:p>
          <a:p>
            <a:endParaRPr lang="en-US" sz="1600" b="1" dirty="0"/>
          </a:p>
          <a:p>
            <a:endParaRPr lang="en-US" sz="1400" b="1" dirty="0"/>
          </a:p>
          <a:p>
            <a:r>
              <a:rPr lang="en-IN" sz="1400" dirty="0"/>
              <a:t>Used in classification.</a:t>
            </a:r>
          </a:p>
          <a:p>
            <a:endParaRPr lang="en-US" sz="16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6409040-E37A-44B8-818B-C0BA921228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427" y="4071412"/>
            <a:ext cx="1838582" cy="65731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D174563-02DB-49B1-8E03-73AF0C386C4B}"/>
              </a:ext>
            </a:extLst>
          </p:cNvPr>
          <p:cNvSpPr/>
          <p:nvPr/>
        </p:nvSpPr>
        <p:spPr>
          <a:xfrm>
            <a:off x="3662031" y="3201000"/>
            <a:ext cx="3782527" cy="2554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Confusion Matrix:</a:t>
            </a:r>
          </a:p>
          <a:p>
            <a:r>
              <a:rPr lang="en-US" sz="1400" dirty="0"/>
              <a:t>A table that shows </a:t>
            </a:r>
            <a:r>
              <a:rPr lang="en-US" sz="1400" b="1" dirty="0"/>
              <a:t>correct and wrong predictions in detail</a:t>
            </a:r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818E94D-EEF7-4102-815B-1B44BF270F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0447" y="3993750"/>
            <a:ext cx="3671965" cy="167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4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1071" y="10131"/>
            <a:ext cx="1030778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/>
              <a:t>Plotting regression line and decision boundary:</a:t>
            </a:r>
            <a:r>
              <a:rPr lang="en-US" sz="2800" dirty="0"/>
              <a:t> 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5010C5-49BF-4CDE-B63F-B955F0EAFE0A}"/>
              </a:ext>
            </a:extLst>
          </p:cNvPr>
          <p:cNvSpPr/>
          <p:nvPr/>
        </p:nvSpPr>
        <p:spPr>
          <a:xfrm>
            <a:off x="6279541" y="1070545"/>
            <a:ext cx="5643170" cy="10772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b="1" dirty="0"/>
              <a:t>Decision Boundary:</a:t>
            </a:r>
          </a:p>
          <a:p>
            <a:r>
              <a:rPr lang="en-US" sz="1600" dirty="0"/>
              <a:t>A </a:t>
            </a:r>
            <a:r>
              <a:rPr lang="en-US" sz="1600" b="1" dirty="0"/>
              <a:t>decision boundary</a:t>
            </a:r>
            <a:r>
              <a:rPr lang="en-US" sz="1600" dirty="0"/>
              <a:t> is a line that separates </a:t>
            </a:r>
            <a:r>
              <a:rPr lang="en-US" sz="1600" b="1" dirty="0"/>
              <a:t>two classes (0 and 1)</a:t>
            </a:r>
            <a:r>
              <a:rPr lang="en-US" sz="1600" dirty="0"/>
              <a:t>.</a:t>
            </a:r>
          </a:p>
          <a:p>
            <a:endParaRPr lang="en-IN" sz="1600" b="1" dirty="0"/>
          </a:p>
          <a:p>
            <a:endParaRPr lang="en-IN" sz="16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C523B7-66C6-4F72-8852-B3E084931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64" y="2869147"/>
            <a:ext cx="6106377" cy="15813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2550C5-6202-4FBB-8D00-4319304DDC55}"/>
              </a:ext>
            </a:extLst>
          </p:cNvPr>
          <p:cNvSpPr txBox="1"/>
          <p:nvPr/>
        </p:nvSpPr>
        <p:spPr>
          <a:xfrm>
            <a:off x="71020" y="2482607"/>
            <a:ext cx="1376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Comparison:</a:t>
            </a:r>
            <a:endParaRPr lang="en-IN" sz="1600" b="1" dirty="0">
              <a:solidFill>
                <a:schemeClr val="tx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61C9CB-D636-4203-B373-C359ACA36118}"/>
              </a:ext>
            </a:extLst>
          </p:cNvPr>
          <p:cNvSpPr/>
          <p:nvPr/>
        </p:nvSpPr>
        <p:spPr>
          <a:xfrm>
            <a:off x="49507" y="5099028"/>
            <a:ext cx="9274718" cy="12618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Decision Tree:</a:t>
            </a:r>
          </a:p>
          <a:p>
            <a:r>
              <a:rPr lang="en-IN" sz="1600" b="1" dirty="0">
                <a:solidFill>
                  <a:schemeClr val="tx2"/>
                </a:solidFill>
              </a:rPr>
              <a:t>  </a:t>
            </a:r>
            <a:r>
              <a:rPr lang="en-US" sz="1400" dirty="0"/>
              <a:t>A </a:t>
            </a:r>
            <a:r>
              <a:rPr lang="en-US" sz="1400" b="1" dirty="0"/>
              <a:t>Decision Tree</a:t>
            </a:r>
            <a:r>
              <a:rPr lang="en-US" sz="1400" dirty="0"/>
              <a:t> is a machine learning algorithm that makes decisions by asking </a:t>
            </a:r>
            <a:r>
              <a:rPr lang="en-US" sz="1400" b="1" dirty="0"/>
              <a:t>questions step by step</a:t>
            </a:r>
            <a:r>
              <a:rPr lang="en-US" sz="1400" dirty="0"/>
              <a:t>, just like a flowchart</a:t>
            </a:r>
            <a:r>
              <a:rPr lang="en-US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A </a:t>
            </a:r>
            <a:r>
              <a:rPr lang="en-US" sz="1400" b="1" dirty="0"/>
              <a:t>Decision Tree</a:t>
            </a:r>
            <a:r>
              <a:rPr lang="en-US" sz="1400" dirty="0"/>
              <a:t> splits data step-by-step to make decisions.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To decide the </a:t>
            </a:r>
            <a:r>
              <a:rPr lang="en-US" sz="1400" b="1" dirty="0"/>
              <a:t>best split</a:t>
            </a:r>
            <a:r>
              <a:rPr lang="en-US" sz="1400" dirty="0"/>
              <a:t>, it uses 3 important concepts: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/>
              <a:t>Gini Impurity                                               2. Entropy                                              3.  Information Gain</a:t>
            </a:r>
            <a:endParaRPr lang="en-IN" sz="1400" b="1" dirty="0">
              <a:solidFill>
                <a:schemeClr val="tx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0E04B5-0093-4B77-8E31-36524FEDAA85}"/>
              </a:ext>
            </a:extLst>
          </p:cNvPr>
          <p:cNvSpPr/>
          <p:nvPr/>
        </p:nvSpPr>
        <p:spPr>
          <a:xfrm>
            <a:off x="177554" y="1065141"/>
            <a:ext cx="5069150" cy="1015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b="1" dirty="0"/>
              <a:t>Regression Line:</a:t>
            </a:r>
          </a:p>
          <a:p>
            <a:r>
              <a:rPr lang="en-US" sz="1400" dirty="0"/>
              <a:t>A </a:t>
            </a:r>
            <a:r>
              <a:rPr lang="en-US" sz="1400" b="1" dirty="0"/>
              <a:t>regression line</a:t>
            </a:r>
            <a:r>
              <a:rPr lang="en-US" sz="1400" dirty="0"/>
              <a:t> is a straight line that shows the relationship between input and output (continuous values).</a:t>
            </a:r>
          </a:p>
          <a:p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2108002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CD4238-74E9-4D91-AA3A-1384A4381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888468"/>
            <a:ext cx="9143999" cy="572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552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597" y="-25932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Decision Tree: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87BFF6-BD3A-48B8-B631-12E7880BCA16}"/>
              </a:ext>
            </a:extLst>
          </p:cNvPr>
          <p:cNvSpPr/>
          <p:nvPr/>
        </p:nvSpPr>
        <p:spPr>
          <a:xfrm>
            <a:off x="143816" y="958296"/>
            <a:ext cx="3797870" cy="15081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b="1" dirty="0"/>
              <a:t>Gini Impurity:</a:t>
            </a:r>
          </a:p>
          <a:p>
            <a:r>
              <a:rPr lang="en-US" sz="1200" dirty="0"/>
              <a:t>Gini impurity tells </a:t>
            </a:r>
            <a:r>
              <a:rPr lang="en-US" sz="1200" b="1" dirty="0"/>
              <a:t>how mixed the data is in a node</a:t>
            </a:r>
            <a:r>
              <a:rPr lang="en-US" sz="1200" dirty="0"/>
              <a:t>.</a:t>
            </a:r>
          </a:p>
          <a:p>
            <a:r>
              <a:rPr lang="en-US" sz="1200" dirty="0"/>
              <a:t>0 → Pure node (only one class) ✅ </a:t>
            </a:r>
          </a:p>
          <a:p>
            <a:r>
              <a:rPr lang="en-US" sz="1200" dirty="0"/>
              <a:t>High value → Mixed classes ❌ </a:t>
            </a:r>
          </a:p>
          <a:p>
            <a:r>
              <a:rPr lang="en-US" sz="1200" b="1" dirty="0"/>
              <a:t>Formula:</a:t>
            </a:r>
            <a:r>
              <a:rPr lang="en-US" sz="1200" dirty="0"/>
              <a:t>   </a:t>
            </a:r>
          </a:p>
          <a:p>
            <a:endParaRPr lang="en-US" sz="1400" dirty="0"/>
          </a:p>
          <a:p>
            <a:r>
              <a:rPr lang="en-US" sz="1400" dirty="0"/>
              <a:t>  </a:t>
            </a:r>
            <a:endParaRPr lang="en-IN" sz="1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BC6A27-1519-4705-9703-E2DD15FAC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958" y="1815297"/>
            <a:ext cx="1524213" cy="41915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288E62C-03E3-4DAD-978F-F164730A8552}"/>
              </a:ext>
            </a:extLst>
          </p:cNvPr>
          <p:cNvSpPr/>
          <p:nvPr/>
        </p:nvSpPr>
        <p:spPr>
          <a:xfrm>
            <a:off x="4099794" y="1049411"/>
            <a:ext cx="3586366" cy="13849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IN" dirty="0"/>
              <a:t>Entropy</a:t>
            </a:r>
            <a:r>
              <a:rPr lang="en-IN" b="1" dirty="0"/>
              <a:t>:</a:t>
            </a:r>
          </a:p>
          <a:p>
            <a:r>
              <a:rPr lang="en-US" sz="1200" dirty="0"/>
              <a:t>Entropy measures </a:t>
            </a:r>
            <a:r>
              <a:rPr lang="en-US" sz="1200" b="1" dirty="0"/>
              <a:t>uncertainty or randomness in data</a:t>
            </a:r>
            <a:r>
              <a:rPr lang="en-US" sz="1200" dirty="0"/>
              <a:t>.</a:t>
            </a:r>
          </a:p>
          <a:p>
            <a:r>
              <a:rPr lang="en-US" sz="1200" dirty="0"/>
              <a:t>0 → No uncertainty (pure) </a:t>
            </a:r>
          </a:p>
          <a:p>
            <a:r>
              <a:rPr lang="en-US" sz="1200" dirty="0"/>
              <a:t>1 → Maximum uncertainty (mixed)</a:t>
            </a:r>
          </a:p>
          <a:p>
            <a:endParaRPr lang="en-US" sz="1400" dirty="0"/>
          </a:p>
          <a:p>
            <a:r>
              <a:rPr lang="en-US" sz="1400" b="1" dirty="0"/>
              <a:t>Formula:</a:t>
            </a:r>
            <a:endParaRPr lang="en-IN" sz="14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9A07C8-FA24-4D3B-98E5-8D3CC8542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1095" y="1898236"/>
            <a:ext cx="1931246" cy="43821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E16D494-CEAA-4323-84FC-23E146DD4685}"/>
              </a:ext>
            </a:extLst>
          </p:cNvPr>
          <p:cNvSpPr/>
          <p:nvPr/>
        </p:nvSpPr>
        <p:spPr>
          <a:xfrm>
            <a:off x="7844269" y="1097265"/>
            <a:ext cx="4034054" cy="13849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b="1" dirty="0"/>
              <a:t>Information Gain:</a:t>
            </a:r>
          </a:p>
          <a:p>
            <a:r>
              <a:rPr lang="en-US" sz="1200" dirty="0"/>
              <a:t>Information Gain tells </a:t>
            </a:r>
            <a:r>
              <a:rPr lang="en-US" sz="1200" b="1" dirty="0"/>
              <a:t>how much a feature improves the split</a:t>
            </a:r>
            <a:r>
              <a:rPr lang="en-US" sz="12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 Higher Information Gain = better feature</a:t>
            </a:r>
          </a:p>
          <a:p>
            <a:r>
              <a:rPr lang="en-US" sz="1600" b="1" dirty="0"/>
              <a:t>Formula:     </a:t>
            </a:r>
            <a:r>
              <a:rPr lang="en-IN" sz="1200" dirty="0"/>
              <a:t>IG=Entropy(before)−Entropy(</a:t>
            </a:r>
            <a:r>
              <a:rPr lang="en-IN" sz="1200" dirty="0" err="1"/>
              <a:t>aftersplit</a:t>
            </a:r>
            <a:r>
              <a:rPr lang="en-IN" sz="1600" dirty="0"/>
              <a:t>)</a:t>
            </a:r>
            <a:endParaRPr lang="en-US" sz="1600" b="1" dirty="0"/>
          </a:p>
          <a:p>
            <a:endParaRPr lang="en-IN" sz="1600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AF7E1E-8228-4307-A80F-75042940259D}"/>
              </a:ext>
            </a:extLst>
          </p:cNvPr>
          <p:cNvSpPr/>
          <p:nvPr/>
        </p:nvSpPr>
        <p:spPr>
          <a:xfrm>
            <a:off x="7048" y="2480468"/>
            <a:ext cx="25366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/>
              <a:t>Random Forest: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3CA47C-183B-410E-A721-23C28A956BD4}"/>
              </a:ext>
            </a:extLst>
          </p:cNvPr>
          <p:cNvSpPr/>
          <p:nvPr/>
        </p:nvSpPr>
        <p:spPr>
          <a:xfrm>
            <a:off x="-254" y="2898093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A </a:t>
            </a:r>
            <a:r>
              <a:rPr lang="en-US" sz="1400" b="1" dirty="0"/>
              <a:t>Random Forest</a:t>
            </a:r>
            <a:r>
              <a:rPr lang="en-US" sz="1400" dirty="0"/>
              <a:t> is a machine learning algorithm that combines </a:t>
            </a:r>
            <a:r>
              <a:rPr lang="en-US" sz="1400" b="1" dirty="0"/>
              <a:t>many decision trees</a:t>
            </a:r>
            <a:r>
              <a:rPr lang="en-US" sz="1400" dirty="0"/>
              <a:t> to make a final prediction.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350FC0-8F46-42F8-85B8-1EEF27A5C848}"/>
              </a:ext>
            </a:extLst>
          </p:cNvPr>
          <p:cNvSpPr/>
          <p:nvPr/>
        </p:nvSpPr>
        <p:spPr>
          <a:xfrm>
            <a:off x="254" y="3179234"/>
            <a:ext cx="7234737" cy="11387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Bagging:</a:t>
            </a:r>
          </a:p>
          <a:p>
            <a:r>
              <a:rPr lang="en-US" sz="1400" dirty="0"/>
              <a:t>It means “Train multiple models on different random samples of data and combine their results.”</a:t>
            </a:r>
          </a:p>
          <a:p>
            <a:endParaRPr lang="en-US" sz="1400" dirty="0"/>
          </a:p>
          <a:p>
            <a:endParaRPr lang="en-IN" sz="2000" b="1" dirty="0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1AD34C-F6CD-48A6-B330-5C2C1421B8B5}"/>
              </a:ext>
            </a:extLst>
          </p:cNvPr>
          <p:cNvSpPr/>
          <p:nvPr/>
        </p:nvSpPr>
        <p:spPr>
          <a:xfrm>
            <a:off x="69195" y="4334570"/>
            <a:ext cx="387249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SVM:</a:t>
            </a:r>
            <a:r>
              <a:rPr lang="en-IN" dirty="0"/>
              <a:t> </a:t>
            </a:r>
          </a:p>
          <a:p>
            <a:r>
              <a:rPr lang="en-US" sz="1400" dirty="0"/>
              <a:t>SVM is a classification algorithm that finds the </a:t>
            </a:r>
            <a:r>
              <a:rPr lang="en-US" sz="1400" b="1" dirty="0"/>
              <a:t>best boundary (hyperplane)</a:t>
            </a:r>
            <a:r>
              <a:rPr lang="en-US" sz="1400" dirty="0"/>
              <a:t> to separate classes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683317-5982-47E3-99F6-4638BE054A81}"/>
              </a:ext>
            </a:extLst>
          </p:cNvPr>
          <p:cNvSpPr/>
          <p:nvPr/>
        </p:nvSpPr>
        <p:spPr>
          <a:xfrm>
            <a:off x="0" y="3786236"/>
            <a:ext cx="43684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tx2"/>
                </a:solidFill>
              </a:rPr>
              <a:t>SVM &amp; K-Nearest Neighbors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3BAC60F-E433-4434-A3E7-BA13CF7D9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866010"/>
              </p:ext>
            </p:extLst>
          </p:nvPr>
        </p:nvGraphicFramePr>
        <p:xfrm>
          <a:off x="5567189" y="4443268"/>
          <a:ext cx="4160667" cy="2103120"/>
        </p:xfrm>
        <a:graphic>
          <a:graphicData uri="http://schemas.openxmlformats.org/drawingml/2006/table">
            <a:tbl>
              <a:tblPr/>
              <a:tblGrid>
                <a:gridCol w="1386889">
                  <a:extLst>
                    <a:ext uri="{9D8B030D-6E8A-4147-A177-3AD203B41FA5}">
                      <a16:colId xmlns:a16="http://schemas.microsoft.com/office/drawing/2014/main" val="2489823940"/>
                    </a:ext>
                  </a:extLst>
                </a:gridCol>
                <a:gridCol w="1386889">
                  <a:extLst>
                    <a:ext uri="{9D8B030D-6E8A-4147-A177-3AD203B41FA5}">
                      <a16:colId xmlns:a16="http://schemas.microsoft.com/office/drawing/2014/main" val="2795579840"/>
                    </a:ext>
                  </a:extLst>
                </a:gridCol>
                <a:gridCol w="1386889">
                  <a:extLst>
                    <a:ext uri="{9D8B030D-6E8A-4147-A177-3AD203B41FA5}">
                      <a16:colId xmlns:a16="http://schemas.microsoft.com/office/drawing/2014/main" val="31968954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Key Idea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61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Hyperplane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Decision boundary separating classes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Line/plane that divides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302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Margin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Gap between classes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SVM maximizes margin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332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Support Vectors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Closest points to hyperplane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They decide boundary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66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Kernel Trick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Converts data to higher dimension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Helps non-linear separation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316408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8244C11A-A51C-4E9F-8A5E-44D91552BEA2}"/>
              </a:ext>
            </a:extLst>
          </p:cNvPr>
          <p:cNvSpPr/>
          <p:nvPr/>
        </p:nvSpPr>
        <p:spPr>
          <a:xfrm>
            <a:off x="5567189" y="3986905"/>
            <a:ext cx="31465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SVM (Support Vector Machine)</a:t>
            </a:r>
          </a:p>
        </p:txBody>
      </p:sp>
    </p:spTree>
    <p:extLst>
      <p:ext uri="{BB962C8B-B14F-4D97-AF65-F5344CB8AC3E}">
        <p14:creationId xmlns:p14="http://schemas.microsoft.com/office/powerpoint/2010/main" val="3691096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0" y="10131"/>
            <a:ext cx="1176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KNN (K-Nearest Neighbors)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37E8D4-EA4A-4F83-86DF-D3AA7A9E2C29}"/>
              </a:ext>
            </a:extLst>
          </p:cNvPr>
          <p:cNvSpPr/>
          <p:nvPr/>
        </p:nvSpPr>
        <p:spPr>
          <a:xfrm>
            <a:off x="-1" y="933544"/>
            <a:ext cx="118516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KNN is a simple algorithm that classifies data based on </a:t>
            </a:r>
            <a:r>
              <a:rPr lang="en-US" sz="1400" b="1" dirty="0"/>
              <a:t>nearest neighbors</a:t>
            </a:r>
            <a:r>
              <a:rPr lang="en-US" sz="1400" dirty="0"/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850849-D96A-420D-9835-98DBE10ECE17}"/>
              </a:ext>
            </a:extLst>
          </p:cNvPr>
          <p:cNvSpPr/>
          <p:nvPr/>
        </p:nvSpPr>
        <p:spPr>
          <a:xfrm>
            <a:off x="-1" y="1414496"/>
            <a:ext cx="47811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Cross-Validation (k-fold CV):</a:t>
            </a:r>
          </a:p>
          <a:p>
            <a:r>
              <a:rPr lang="en-US" sz="1400" dirty="0"/>
              <a:t>Cross-validation is used to </a:t>
            </a:r>
            <a:r>
              <a:rPr lang="en-US" sz="1400" b="1" dirty="0"/>
              <a:t>check model performance properly</a:t>
            </a:r>
            <a:r>
              <a:rPr lang="en-US" sz="1400" dirty="0"/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779227-0E7E-4810-AA1A-409C2238E9C7}"/>
              </a:ext>
            </a:extLst>
          </p:cNvPr>
          <p:cNvSpPr/>
          <p:nvPr/>
        </p:nvSpPr>
        <p:spPr>
          <a:xfrm>
            <a:off x="0" y="2106264"/>
            <a:ext cx="5928995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tx2"/>
                </a:solidFill>
              </a:rPr>
              <a:t>Clustering &amp; Dimensionality Reduction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F2BBA33-3EB9-4690-A8CC-E9BE29954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958454"/>
              </p:ext>
            </p:extLst>
          </p:nvPr>
        </p:nvGraphicFramePr>
        <p:xfrm>
          <a:off x="136864" y="3596963"/>
          <a:ext cx="4923408" cy="2377440"/>
        </p:xfrm>
        <a:graphic>
          <a:graphicData uri="http://schemas.openxmlformats.org/drawingml/2006/table">
            <a:tbl>
              <a:tblPr/>
              <a:tblGrid>
                <a:gridCol w="1641136">
                  <a:extLst>
                    <a:ext uri="{9D8B030D-6E8A-4147-A177-3AD203B41FA5}">
                      <a16:colId xmlns:a16="http://schemas.microsoft.com/office/drawing/2014/main" val="4243934405"/>
                    </a:ext>
                  </a:extLst>
                </a:gridCol>
                <a:gridCol w="1641136">
                  <a:extLst>
                    <a:ext uri="{9D8B030D-6E8A-4147-A177-3AD203B41FA5}">
                      <a16:colId xmlns:a16="http://schemas.microsoft.com/office/drawing/2014/main" val="2212141427"/>
                    </a:ext>
                  </a:extLst>
                </a:gridCol>
                <a:gridCol w="1641136">
                  <a:extLst>
                    <a:ext uri="{9D8B030D-6E8A-4147-A177-3AD203B41FA5}">
                      <a16:colId xmlns:a16="http://schemas.microsoft.com/office/drawing/2014/main" val="2495059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Key Idea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90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Clustering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Grouping similar data points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Unsupervised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033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Centroids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Center point of a cluster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Mean of all points in cluster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746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Inertia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Sum of squared distances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Measures cluster compactness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3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Elbow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Technique to choose 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Find “elbow point” in graph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049842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1ADBC6C-9614-4E81-A8A9-6597DC5E52C9}"/>
              </a:ext>
            </a:extLst>
          </p:cNvPr>
          <p:cNvSpPr/>
          <p:nvPr/>
        </p:nvSpPr>
        <p:spPr>
          <a:xfrm>
            <a:off x="0" y="2699312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b="1" dirty="0"/>
              <a:t>K-Means Clustering:</a:t>
            </a:r>
          </a:p>
          <a:p>
            <a:r>
              <a:rPr lang="en-US" sz="1400" b="1" dirty="0"/>
              <a:t>K-Means Clustering</a:t>
            </a:r>
            <a:r>
              <a:rPr lang="en-US" sz="1400" dirty="0"/>
              <a:t> is an </a:t>
            </a:r>
            <a:r>
              <a:rPr lang="en-US" sz="1400" b="1" dirty="0"/>
              <a:t>unsupervised learning algorithm</a:t>
            </a:r>
            <a:r>
              <a:rPr lang="en-US" sz="1400" dirty="0"/>
              <a:t> that groups similar data points into </a:t>
            </a:r>
            <a:r>
              <a:rPr lang="en-US" sz="1400" b="1" dirty="0"/>
              <a:t>K clusters</a:t>
            </a:r>
            <a:r>
              <a:rPr lang="en-US" sz="1400" dirty="0"/>
              <a:t>.</a:t>
            </a:r>
            <a:endParaRPr lang="en-IN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3FB488-EC42-40CA-92DB-EE8F27D5AD88}"/>
              </a:ext>
            </a:extLst>
          </p:cNvPr>
          <p:cNvSpPr/>
          <p:nvPr/>
        </p:nvSpPr>
        <p:spPr>
          <a:xfrm>
            <a:off x="7122738" y="2695029"/>
            <a:ext cx="5069262" cy="13234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b="1" dirty="0"/>
              <a:t>DBSCAN:</a:t>
            </a:r>
          </a:p>
          <a:p>
            <a:r>
              <a:rPr lang="en-US" sz="1600" b="1" dirty="0"/>
              <a:t>DBSCAN (Density-Based Spatial Clustering of Applications with Noise)</a:t>
            </a:r>
            <a:r>
              <a:rPr lang="en-US" sz="1600" dirty="0"/>
              <a:t> is an </a:t>
            </a:r>
            <a:r>
              <a:rPr lang="en-US" sz="1600" b="1" dirty="0"/>
              <a:t>unsupervised clustering algorithm</a:t>
            </a:r>
            <a:r>
              <a:rPr lang="en-US" sz="1600" dirty="0"/>
              <a:t> that groups data based on </a:t>
            </a:r>
            <a:r>
              <a:rPr lang="en-US" sz="1600" b="1" dirty="0"/>
              <a:t>density (how closely points are packed together)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356496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9463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Model Evaluation &amp; Hyperparameter Tuning: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50D099E-B836-4BB9-8032-69C37E857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777351"/>
              </p:ext>
            </p:extLst>
          </p:nvPr>
        </p:nvGraphicFramePr>
        <p:xfrm>
          <a:off x="580747" y="3429000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8197644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118482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32043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Model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Hyperparameter 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06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Measure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Improve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221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 changes made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settings are changed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020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Final score (accuracy, F1, etc.)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Best hyperparameters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048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Data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Test/validation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Validation/CV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635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After 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During model building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679723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B5197A26-DE05-4B77-BC19-0474C9C03D0A}"/>
              </a:ext>
            </a:extLst>
          </p:cNvPr>
          <p:cNvSpPr/>
          <p:nvPr/>
        </p:nvSpPr>
        <p:spPr>
          <a:xfrm>
            <a:off x="2679907" y="103438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Model evaluation is the process of </a:t>
            </a:r>
            <a:r>
              <a:rPr lang="en-US" b="1" dirty="0"/>
              <a:t>measuring how well a trained model performs</a:t>
            </a:r>
            <a:r>
              <a:rPr lang="en-US" dirty="0"/>
              <a:t> on unseen data.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6D17B-7222-41B0-B40A-EB7389982C7B}"/>
              </a:ext>
            </a:extLst>
          </p:cNvPr>
          <p:cNvSpPr/>
          <p:nvPr/>
        </p:nvSpPr>
        <p:spPr>
          <a:xfrm>
            <a:off x="284700" y="1034385"/>
            <a:ext cx="23952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tx2"/>
                </a:solidFill>
              </a:rPr>
              <a:t>Model Evaluation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CCF7E8-C346-4A20-B9C7-EBCA016AA8D7}"/>
              </a:ext>
            </a:extLst>
          </p:cNvPr>
          <p:cNvSpPr/>
          <p:nvPr/>
        </p:nvSpPr>
        <p:spPr>
          <a:xfrm>
            <a:off x="284700" y="1872596"/>
            <a:ext cx="30624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tx2"/>
                </a:solidFill>
              </a:rPr>
              <a:t>Hyperparameter Tuning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572BE0-F1E9-45E6-A92E-711AA9D5CC65}"/>
              </a:ext>
            </a:extLst>
          </p:cNvPr>
          <p:cNvSpPr/>
          <p:nvPr/>
        </p:nvSpPr>
        <p:spPr>
          <a:xfrm>
            <a:off x="3444795" y="1867180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/>
              <a:t>Hyperparameter tuning is the process of </a:t>
            </a:r>
            <a:r>
              <a:rPr lang="en-US" sz="1600" b="1" dirty="0"/>
              <a:t>finding the best settings (hyperparameters) for a model</a:t>
            </a:r>
            <a:r>
              <a:rPr lang="en-US" sz="1600" dirty="0"/>
              <a:t> to improve performance.</a:t>
            </a:r>
            <a:endParaRPr lang="en-IN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129F47-0D6A-418E-8AD1-C056FBC6F205}"/>
              </a:ext>
            </a:extLst>
          </p:cNvPr>
          <p:cNvSpPr txBox="1"/>
          <p:nvPr/>
        </p:nvSpPr>
        <p:spPr>
          <a:xfrm>
            <a:off x="461638" y="2987342"/>
            <a:ext cx="38085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Comparison Table</a:t>
            </a:r>
            <a:endParaRPr lang="en-I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792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C53C6C-71D4-4039-8879-4B5C4E03EBB1}"/>
              </a:ext>
            </a:extLst>
          </p:cNvPr>
          <p:cNvSpPr/>
          <p:nvPr/>
        </p:nvSpPr>
        <p:spPr>
          <a:xfrm>
            <a:off x="426720" y="365844"/>
            <a:ext cx="33598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Bias vs Variance Tradeoff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2FA30B-C6E6-4A4C-ABE2-84E442E64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806583"/>
              </p:ext>
            </p:extLst>
          </p:nvPr>
        </p:nvGraphicFramePr>
        <p:xfrm>
          <a:off x="292963" y="1003608"/>
          <a:ext cx="10519299" cy="2194560"/>
        </p:xfrm>
        <a:graphic>
          <a:graphicData uri="http://schemas.openxmlformats.org/drawingml/2006/table">
            <a:tbl>
              <a:tblPr/>
              <a:tblGrid>
                <a:gridCol w="3508899">
                  <a:extLst>
                    <a:ext uri="{9D8B030D-6E8A-4147-A177-3AD203B41FA5}">
                      <a16:colId xmlns:a16="http://schemas.microsoft.com/office/drawing/2014/main" val="17183210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20996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895651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Bias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Variance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3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Cause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Too simple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Too complex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Underfitting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Overfitting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627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Training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384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Test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 (unstable)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57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Sensitivity to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88768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880B437E-48FE-41C8-AA32-15E2E71845F6}"/>
              </a:ext>
            </a:extLst>
          </p:cNvPr>
          <p:cNvSpPr/>
          <p:nvPr/>
        </p:nvSpPr>
        <p:spPr>
          <a:xfrm>
            <a:off x="426720" y="354606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Bias-Variance Tradeoff</a:t>
            </a:r>
          </a:p>
          <a:p>
            <a:r>
              <a:rPr lang="en-US" dirty="0"/>
              <a:t>In real models: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Reducing bias often increases variance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Reducing variance often increases bias 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Goal:</a:t>
            </a:r>
          </a:p>
          <a:p>
            <a:r>
              <a:rPr lang="en-US" dirty="0"/>
              <a:t>Find a </a:t>
            </a:r>
            <a:r>
              <a:rPr lang="en-US" b="1" dirty="0"/>
              <a:t>balanced model</a:t>
            </a:r>
            <a:r>
              <a:rPr lang="en-US" dirty="0"/>
              <a:t>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bias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variance</a:t>
            </a:r>
          </a:p>
        </p:txBody>
      </p:sp>
    </p:spTree>
    <p:extLst>
      <p:ext uri="{BB962C8B-B14F-4D97-AF65-F5344CB8AC3E}">
        <p14:creationId xmlns:p14="http://schemas.microsoft.com/office/powerpoint/2010/main" val="493892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6B32127-F519-4187-A31B-521C39B48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626849"/>
              </p:ext>
            </p:extLst>
          </p:nvPr>
        </p:nvGraphicFramePr>
        <p:xfrm>
          <a:off x="305540" y="994359"/>
          <a:ext cx="10515600" cy="21031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0610682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6539303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31328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Feature Engineering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Pipeline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857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What it 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 of creating/improving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End-to-end workflow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763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transformation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Automation &amp;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535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Scope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One step or multiple steps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Entire ML 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88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Better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Reproducible ML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58800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95B2C4B-3A55-4D54-ABCA-1BC4EB8CFBEE}"/>
              </a:ext>
            </a:extLst>
          </p:cNvPr>
          <p:cNvSpPr/>
          <p:nvPr/>
        </p:nvSpPr>
        <p:spPr>
          <a:xfrm>
            <a:off x="305540" y="382323"/>
            <a:ext cx="35707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Feature Engineering &amp; Pipelines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79CFB4-73DF-4A6B-9E98-756B08F4F617}"/>
              </a:ext>
            </a:extLst>
          </p:cNvPr>
          <p:cNvSpPr/>
          <p:nvPr/>
        </p:nvSpPr>
        <p:spPr>
          <a:xfrm>
            <a:off x="255233" y="313869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1. Feature Selection</a:t>
            </a:r>
          </a:p>
          <a:p>
            <a:r>
              <a:rPr lang="en-US" dirty="0"/>
              <a:t>Feature selection means </a:t>
            </a:r>
            <a:r>
              <a:rPr lang="en-US" b="1" dirty="0"/>
              <a:t>choosing the most useful features and removing irrelevant ones</a:t>
            </a:r>
            <a:r>
              <a:rPr lang="en-US" dirty="0"/>
              <a:t> to improve model performance and reduce overfitting.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F3F9E5-C4F9-43A6-953C-230A34A740D3}"/>
              </a:ext>
            </a:extLst>
          </p:cNvPr>
          <p:cNvSpPr/>
          <p:nvPr/>
        </p:nvSpPr>
        <p:spPr>
          <a:xfrm>
            <a:off x="255233" y="426446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2. Creating New Features</a:t>
            </a:r>
          </a:p>
          <a:p>
            <a:r>
              <a:rPr lang="en-US" dirty="0"/>
              <a:t>Feature creation helps models learn </a:t>
            </a:r>
            <a:r>
              <a:rPr lang="en-US" b="1" dirty="0"/>
              <a:t>hidden patterns better than raw data</a:t>
            </a:r>
            <a:r>
              <a:rPr lang="en-US" dirty="0"/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AE8DFC-2425-413C-9D8D-AA03D03CC134}"/>
              </a:ext>
            </a:extLst>
          </p:cNvPr>
          <p:cNvSpPr/>
          <p:nvPr/>
        </p:nvSpPr>
        <p:spPr>
          <a:xfrm>
            <a:off x="255233" y="510716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3.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Sklearn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Pipeline</a:t>
            </a:r>
          </a:p>
          <a:p>
            <a:r>
              <a:rPr lang="en-US" dirty="0"/>
              <a:t>A Pipeline chains all ML steps into a </a:t>
            </a:r>
            <a:r>
              <a:rPr lang="en-US" b="1" dirty="0"/>
              <a:t>single workflow</a:t>
            </a:r>
            <a:r>
              <a:rPr lang="en-US" dirty="0"/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E4E1CA-0B1C-4E57-9C34-4AC915BEFB9C}"/>
              </a:ext>
            </a:extLst>
          </p:cNvPr>
          <p:cNvSpPr/>
          <p:nvPr/>
        </p:nvSpPr>
        <p:spPr>
          <a:xfrm>
            <a:off x="255233" y="5678975"/>
            <a:ext cx="42120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4. </a:t>
            </a:r>
            <a:r>
              <a:rPr lang="en-IN" b="1" dirty="0" err="1">
                <a:solidFill>
                  <a:schemeClr val="accent1">
                    <a:lumMod val="75000"/>
                  </a:schemeClr>
                </a:solidFill>
              </a:rPr>
              <a:t>ColumnTransformer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 (Mixed Data Types)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EBB7A4-55C7-4A8E-A514-49843A1D76E3}"/>
              </a:ext>
            </a:extLst>
          </p:cNvPr>
          <p:cNvSpPr/>
          <p:nvPr/>
        </p:nvSpPr>
        <p:spPr>
          <a:xfrm>
            <a:off x="255233" y="5944238"/>
            <a:ext cx="53978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Applies </a:t>
            </a:r>
            <a:r>
              <a:rPr lang="en-US" b="1" dirty="0"/>
              <a:t>different transformations to different columns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5229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BF2959-02E4-4EAC-BCCD-F01D2F641CD7}"/>
              </a:ext>
            </a:extLst>
          </p:cNvPr>
          <p:cNvSpPr/>
          <p:nvPr/>
        </p:nvSpPr>
        <p:spPr>
          <a:xfrm>
            <a:off x="585000" y="365844"/>
            <a:ext cx="26804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Introduction to NLP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B6D6E2-F2C7-409B-A16F-9ABF11EEA137}"/>
              </a:ext>
            </a:extLst>
          </p:cNvPr>
          <p:cNvSpPr/>
          <p:nvPr/>
        </p:nvSpPr>
        <p:spPr>
          <a:xfrm>
            <a:off x="109491" y="99855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1. Text Preprocessing</a:t>
            </a:r>
          </a:p>
          <a:p>
            <a:r>
              <a:rPr lang="en-US" dirty="0"/>
              <a:t>Before using text in ML models, we clean and standardize it.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223825-3447-40BD-B2B6-F641D0967410}"/>
              </a:ext>
            </a:extLst>
          </p:cNvPr>
          <p:cNvSpPr/>
          <p:nvPr/>
        </p:nvSpPr>
        <p:spPr>
          <a:xfrm>
            <a:off x="109491" y="1585409"/>
            <a:ext cx="5154967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a) Tokenization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Splitting text into </a:t>
            </a:r>
            <a:r>
              <a:rPr lang="en-US" b="1" dirty="0"/>
              <a:t>smaller units (tokens)</a:t>
            </a:r>
            <a:r>
              <a:rPr lang="en-US" dirty="0"/>
              <a:t> like words or sentences.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A1894-8201-4798-A3E9-D3861141ED11}"/>
              </a:ext>
            </a:extLst>
          </p:cNvPr>
          <p:cNvSpPr/>
          <p:nvPr/>
        </p:nvSpPr>
        <p:spPr>
          <a:xfrm>
            <a:off x="5933509" y="1687985"/>
            <a:ext cx="5559789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b)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Stopwords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Removal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Removing common words that don’t add much meaning.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494751-7D7A-4B7E-94BF-A2C792D9D33F}"/>
              </a:ext>
            </a:extLst>
          </p:cNvPr>
          <p:cNvSpPr/>
          <p:nvPr/>
        </p:nvSpPr>
        <p:spPr>
          <a:xfrm>
            <a:off x="109491" y="2897067"/>
            <a:ext cx="4551286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c) Stemming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Reducing words to their </a:t>
            </a:r>
            <a:r>
              <a:rPr lang="en-US" b="1" dirty="0"/>
              <a:t>root form (rough cut)</a:t>
            </a:r>
            <a:r>
              <a:rPr lang="en-US" dirty="0"/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16738E-1EE0-4FDB-840C-23B552FC8C82}"/>
              </a:ext>
            </a:extLst>
          </p:cNvPr>
          <p:cNvSpPr/>
          <p:nvPr/>
        </p:nvSpPr>
        <p:spPr>
          <a:xfrm>
            <a:off x="109491" y="398016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Bag of Words (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BoW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) &amp; TF-IDF</a:t>
            </a:r>
          </a:p>
          <a:p>
            <a:r>
              <a:rPr lang="en-US" dirty="0"/>
              <a:t>These convert text into </a:t>
            </a:r>
            <a:r>
              <a:rPr lang="en-US" b="1" dirty="0"/>
              <a:t>numerical vectors</a:t>
            </a:r>
            <a:r>
              <a:rPr lang="en-US" dirty="0"/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2CDD43-51C7-43C9-8998-880144714689}"/>
              </a:ext>
            </a:extLst>
          </p:cNvPr>
          <p:cNvSpPr/>
          <p:nvPr/>
        </p:nvSpPr>
        <p:spPr>
          <a:xfrm>
            <a:off x="109491" y="462335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TF-IDF (Term Frequency - Inverse Document Frequency)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Gives </a:t>
            </a:r>
            <a:r>
              <a:rPr lang="en-US" b="1" dirty="0"/>
              <a:t>higher weight to important words</a:t>
            </a:r>
            <a:r>
              <a:rPr lang="en-US" dirty="0"/>
              <a:t>, lower to common words.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CA594E-026E-4BC9-8FCC-09F948D30F85}"/>
              </a:ext>
            </a:extLst>
          </p:cNvPr>
          <p:cNvSpPr/>
          <p:nvPr/>
        </p:nvSpPr>
        <p:spPr>
          <a:xfrm>
            <a:off x="7121371" y="3855806"/>
            <a:ext cx="4045258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Sentiment Analysis Basics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Determining </a:t>
            </a:r>
            <a:r>
              <a:rPr lang="en-US" b="1" dirty="0"/>
              <a:t>emotion or opinion</a:t>
            </a:r>
            <a:r>
              <a:rPr lang="en-US" dirty="0"/>
              <a:t> in text: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Positive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😊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Negative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😡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Neutral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😐</a:t>
            </a:r>
          </a:p>
        </p:txBody>
      </p:sp>
    </p:spTree>
    <p:extLst>
      <p:ext uri="{BB962C8B-B14F-4D97-AF65-F5344CB8AC3E}">
        <p14:creationId xmlns:p14="http://schemas.microsoft.com/office/powerpoint/2010/main" val="4284731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D21763-4749-4DEF-AF43-1CBB07AAA0FB}"/>
              </a:ext>
            </a:extLst>
          </p:cNvPr>
          <p:cNvSpPr/>
          <p:nvPr/>
        </p:nvSpPr>
        <p:spPr>
          <a:xfrm>
            <a:off x="426720" y="329781"/>
            <a:ext cx="37209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Machine Learning Capstone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210003-DC44-4B6A-8D63-003C5A2AC8FE}"/>
              </a:ext>
            </a:extLst>
          </p:cNvPr>
          <p:cNvSpPr/>
          <p:nvPr/>
        </p:nvSpPr>
        <p:spPr>
          <a:xfrm>
            <a:off x="162757" y="93354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1. Problem Definition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Clearly define </a:t>
            </a:r>
            <a:r>
              <a:rPr lang="en-US" b="1" dirty="0"/>
              <a:t>what you are trying to solve</a:t>
            </a:r>
            <a:r>
              <a:rPr lang="en-US" dirty="0"/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B11934-ACE5-454F-AED7-F3ABA51E755F}"/>
              </a:ext>
            </a:extLst>
          </p:cNvPr>
          <p:cNvSpPr/>
          <p:nvPr/>
        </p:nvSpPr>
        <p:spPr>
          <a:xfrm>
            <a:off x="162757" y="1836322"/>
            <a:ext cx="345045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2. Dataset Selection</a:t>
            </a:r>
          </a:p>
          <a:p>
            <a:r>
              <a:rPr lang="en-US" b="1" dirty="0"/>
              <a:t>Sources: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Kaggle datasets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UCI Machine Learning Repository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Company/internal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576ED8-6421-44AE-9773-E38DE688FDB2}"/>
              </a:ext>
            </a:extLst>
          </p:cNvPr>
          <p:cNvSpPr/>
          <p:nvPr/>
        </p:nvSpPr>
        <p:spPr>
          <a:xfrm>
            <a:off x="162757" y="3512679"/>
            <a:ext cx="1931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3. Full ML Pipeline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F95059-DA4B-4A45-AC92-3045A5470ED9}"/>
              </a:ext>
            </a:extLst>
          </p:cNvPr>
          <p:cNvSpPr/>
          <p:nvPr/>
        </p:nvSpPr>
        <p:spPr>
          <a:xfrm>
            <a:off x="224901" y="3781715"/>
            <a:ext cx="43559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Step A:</a:t>
            </a:r>
            <a:r>
              <a:rPr lang="en-IN" dirty="0"/>
              <a:t> </a:t>
            </a:r>
            <a:r>
              <a:rPr lang="en-US" b="1" dirty="0"/>
              <a:t>EDA (Exploratory Data Analysis)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Understanding the dataset before modeling.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D77CEE-1D0F-4288-881A-FD347EDEABA7}"/>
              </a:ext>
            </a:extLst>
          </p:cNvPr>
          <p:cNvSpPr/>
          <p:nvPr/>
        </p:nvSpPr>
        <p:spPr>
          <a:xfrm>
            <a:off x="224901" y="4614486"/>
            <a:ext cx="38588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Step B: </a:t>
            </a:r>
            <a:r>
              <a:rPr lang="en-US" b="1" dirty="0"/>
              <a:t>Data Preprocessing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Clean and prepare data for ML models.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C1591D-131E-48D2-9250-757658AAAAB9}"/>
              </a:ext>
            </a:extLst>
          </p:cNvPr>
          <p:cNvSpPr/>
          <p:nvPr/>
        </p:nvSpPr>
        <p:spPr>
          <a:xfrm>
            <a:off x="224901" y="5447257"/>
            <a:ext cx="48886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Step C:</a:t>
            </a:r>
            <a:r>
              <a:rPr lang="en-US" b="1" dirty="0"/>
              <a:t> Modelling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Train machine learning models on processed data.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32B9D5-EC1E-4A13-90B7-6DDC2F0E8B03}"/>
              </a:ext>
            </a:extLst>
          </p:cNvPr>
          <p:cNvSpPr/>
          <p:nvPr/>
        </p:nvSpPr>
        <p:spPr>
          <a:xfrm>
            <a:off x="5744741" y="5462791"/>
            <a:ext cx="398311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Step D:</a:t>
            </a:r>
            <a:r>
              <a:rPr lang="en-US" b="1" dirty="0"/>
              <a:t> Evaluation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Measure how well the model performs.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3AFDD1-76EC-4CF1-B67C-AC85616C5B7B}"/>
              </a:ext>
            </a:extLst>
          </p:cNvPr>
          <p:cNvSpPr/>
          <p:nvPr/>
        </p:nvSpPr>
        <p:spPr>
          <a:xfrm>
            <a:off x="6968971" y="1736229"/>
            <a:ext cx="3983115" cy="33855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dirty="0"/>
              <a:t>1. Problem Definition</a:t>
            </a:r>
          </a:p>
          <a:p>
            <a:r>
              <a:rPr lang="en-IN" sz="1600" dirty="0"/>
              <a:t>        ↓</a:t>
            </a:r>
          </a:p>
          <a:p>
            <a:r>
              <a:rPr lang="en-IN" sz="1600" dirty="0"/>
              <a:t>2. Dataset Collection</a:t>
            </a:r>
          </a:p>
          <a:p>
            <a:r>
              <a:rPr lang="en-IN" sz="1600" dirty="0"/>
              <a:t>        ↓</a:t>
            </a:r>
          </a:p>
          <a:p>
            <a:r>
              <a:rPr lang="en-IN" sz="1600" dirty="0"/>
              <a:t>3. EDA (Understand data)</a:t>
            </a:r>
          </a:p>
          <a:p>
            <a:r>
              <a:rPr lang="en-IN" sz="1600" dirty="0"/>
              <a:t>        ↓</a:t>
            </a:r>
          </a:p>
          <a:p>
            <a:r>
              <a:rPr lang="en-IN" sz="1600" dirty="0"/>
              <a:t>4. Preprocessing (clean + encode + scale)</a:t>
            </a:r>
          </a:p>
          <a:p>
            <a:r>
              <a:rPr lang="en-IN" sz="1600" dirty="0"/>
              <a:t>        ↓</a:t>
            </a:r>
          </a:p>
          <a:p>
            <a:r>
              <a:rPr lang="en-IN" sz="1600" dirty="0"/>
              <a:t>5. Model Training</a:t>
            </a:r>
          </a:p>
          <a:p>
            <a:r>
              <a:rPr lang="en-IN" sz="1600" dirty="0"/>
              <a:t>        ↓</a:t>
            </a:r>
          </a:p>
          <a:p>
            <a:r>
              <a:rPr lang="en-IN" sz="1600" dirty="0"/>
              <a:t>6. Evaluation (metrics)</a:t>
            </a:r>
          </a:p>
          <a:p>
            <a:r>
              <a:rPr lang="en-IN" sz="1600" dirty="0"/>
              <a:t>        ↓</a:t>
            </a:r>
          </a:p>
          <a:p>
            <a:r>
              <a:rPr lang="en-IN" sz="1600" dirty="0"/>
              <a:t>7. Visualization + Insights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3AE42F-CA4D-4E6B-BF1B-B02F07076DE6}"/>
              </a:ext>
            </a:extLst>
          </p:cNvPr>
          <p:cNvSpPr/>
          <p:nvPr/>
        </p:nvSpPr>
        <p:spPr>
          <a:xfrm>
            <a:off x="6899870" y="1327193"/>
            <a:ext cx="25806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End-to-End Workflow </a:t>
            </a:r>
          </a:p>
        </p:txBody>
      </p:sp>
    </p:spTree>
    <p:extLst>
      <p:ext uri="{BB962C8B-B14F-4D97-AF65-F5344CB8AC3E}">
        <p14:creationId xmlns:p14="http://schemas.microsoft.com/office/powerpoint/2010/main" val="1500494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8CED73E-8F0D-48E2-B938-3A60FA2B8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389518"/>
              </p:ext>
            </p:extLst>
          </p:nvPr>
        </p:nvGraphicFramePr>
        <p:xfrm>
          <a:off x="426720" y="1093578"/>
          <a:ext cx="5933334" cy="438491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961874">
                  <a:extLst>
                    <a:ext uri="{9D8B030D-6E8A-4147-A177-3AD203B41FA5}">
                      <a16:colId xmlns:a16="http://schemas.microsoft.com/office/drawing/2014/main" val="4159478295"/>
                    </a:ext>
                  </a:extLst>
                </a:gridCol>
                <a:gridCol w="1985730">
                  <a:extLst>
                    <a:ext uri="{9D8B030D-6E8A-4147-A177-3AD203B41FA5}">
                      <a16:colId xmlns:a16="http://schemas.microsoft.com/office/drawing/2014/main" val="2808881722"/>
                    </a:ext>
                  </a:extLst>
                </a:gridCol>
                <a:gridCol w="1985730">
                  <a:extLst>
                    <a:ext uri="{9D8B030D-6E8A-4147-A177-3AD203B41FA5}">
                      <a16:colId xmlns:a16="http://schemas.microsoft.com/office/drawing/2014/main" val="1013487018"/>
                    </a:ext>
                  </a:extLst>
                </a:gridCol>
              </a:tblGrid>
              <a:tr h="276275">
                <a:tc>
                  <a:txBody>
                    <a:bodyPr/>
                    <a:lstStyle/>
                    <a:p>
                      <a:r>
                        <a:rPr lang="en-IN" sz="1600" b="1" dirty="0"/>
                        <a:t>Website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Link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Why it is Useful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403402791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IN" sz="1600" dirty="0"/>
                        <a:t>GeeksforGeeks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4"/>
                        </a:rPr>
                        <a:t>https://www.geeksforgeeks.org/machine-learning/</a:t>
                      </a:r>
                      <a:endParaRPr lang="en-IN" sz="1600" dirty="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Simple explanations, beginner-friendly content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395165974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IN" sz="1600"/>
                        <a:t>Wikipedia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5"/>
                        </a:rPr>
                        <a:t>https://en.wikipedia.org/wiki/Machine_learning</a:t>
                      </a:r>
                      <a:endParaRPr lang="en-IN" sz="1600" dirty="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Reliable definitions and background knowledge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883734281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IN" sz="1600"/>
                        <a:t>Analytics Vidhya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6"/>
                        </a:rPr>
                        <a:t>https://www.analyticsvidhya.com</a:t>
                      </a:r>
                      <a:endParaRPr lang="en-IN" sz="1600" dirty="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Easy-to-understand ML explanations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40251479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IN" sz="1600"/>
                        <a:t>Towards Data Science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hlinkClick r:id="rId7"/>
                        </a:rPr>
                        <a:t>https://towardsdatascience.com</a:t>
                      </a:r>
                      <a:endParaRPr lang="en-IN" sz="160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Real-world ML examples and insights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4017535817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IN" sz="1600"/>
                        <a:t>Kaggle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hlinkClick r:id="rId8"/>
                        </a:rPr>
                        <a:t>https://www.kaggle.com</a:t>
                      </a:r>
                      <a:endParaRPr lang="en-IN" sz="160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Best for practical examples and visuals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371103241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IN" sz="1600"/>
                        <a:t>Scikit-learn documentation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hlinkClick r:id="rId9"/>
                        </a:rPr>
                        <a:t>https://scikit-learn.org</a:t>
                      </a:r>
                      <a:endParaRPr lang="en-IN" sz="160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Accurate technical reference for ML models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4170304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36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2518</Words>
  <Application>Microsoft Office PowerPoint</Application>
  <PresentationFormat>Widescreen</PresentationFormat>
  <Paragraphs>453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Unicode MS</vt:lpstr>
      <vt:lpstr>Bahnschrift SemiBold</vt:lpstr>
      <vt:lpstr>Calibri</vt:lpstr>
      <vt:lpstr>Calibri Light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user2</cp:lastModifiedBy>
  <cp:revision>69</cp:revision>
  <dcterms:created xsi:type="dcterms:W3CDTF">2026-05-21T06:29:53Z</dcterms:created>
  <dcterms:modified xsi:type="dcterms:W3CDTF">2026-07-13T08:27:55Z</dcterms:modified>
</cp:coreProperties>
</file>