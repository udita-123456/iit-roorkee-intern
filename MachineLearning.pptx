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1" r:id="rId2"/>
    <p:sldId id="323" r:id="rId3"/>
    <p:sldId id="322" r:id="rId4"/>
    <p:sldId id="354" r:id="rId5"/>
    <p:sldId id="328" r:id="rId6"/>
    <p:sldId id="331" r:id="rId7"/>
    <p:sldId id="332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55" r:id="rId16"/>
    <p:sldId id="356" r:id="rId17"/>
    <p:sldId id="34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2" initials="u" lastIdx="1" clrIdx="0">
    <p:extLst>
      <p:ext uri="{19B8F6BF-5375-455C-9EA6-DF929625EA0E}">
        <p15:presenceInfo xmlns:p15="http://schemas.microsoft.com/office/powerpoint/2012/main" userId="user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50A016-5D6E-4D97-AE13-2A5468E02E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7705D-2969-40B4-9E8D-9A0303D83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5C5C3-F148-455E-81E6-DE77DEEFB8C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AF2B2-B32D-4AFE-A498-F180AB60FE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5FB0F-E7D3-4A69-92F3-82381C68AF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4C599-3F8C-40C0-8AA2-97176055B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35176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5F40B-0C8F-4AA6-AE02-8F0A9C48067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90BD8-5968-4148-B0A5-ED0CDFF1B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53530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towardsdatascience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analyticsvidhya.com/" TargetMode="External"/><Relationship Id="rId5" Type="http://schemas.openxmlformats.org/officeDocument/2006/relationships/hyperlink" Target="https://en.wikipedia.org/wiki/Machine_learning" TargetMode="External"/><Relationship Id="rId4" Type="http://schemas.openxmlformats.org/officeDocument/2006/relationships/hyperlink" Target="https://www.geeksforgeeks.org/machine-learning/" TargetMode="External"/><Relationship Id="rId9" Type="http://schemas.openxmlformats.org/officeDocument/2006/relationships/hyperlink" Target="https://scikit-lear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Udita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</a:t>
            </a:r>
            <a:r>
              <a:rPr lang="en-US" sz="1467" b="1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Riya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                                                                                                                                                                                                               1</a:t>
            </a:r>
            <a:endParaRPr lang="en-IN" sz="2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6809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Table of content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68CBA-50E5-4DEE-895C-ACF38E6EAA36}"/>
              </a:ext>
            </a:extLst>
          </p:cNvPr>
          <p:cNvSpPr txBox="1"/>
          <p:nvPr/>
        </p:nvSpPr>
        <p:spPr>
          <a:xfrm>
            <a:off x="257451" y="1456184"/>
            <a:ext cx="1080412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 Introduction to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Data Pre-processing &amp; EDA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Linear &amp; 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Decision Trees &amp; Random Forests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SVM &amp; K-Nearest Neighbours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Clustering &amp; Dimensionality Reduction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Model Evaluation &amp; Hyperparameter Tuning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Feature Engineering &amp;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Introduction to NLP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Machine Learning Capstone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10521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  2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0131"/>
            <a:ext cx="1177424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Introduction to Machine Learning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EEAC9-0A95-42B3-90B9-017D7A2CF8FA}"/>
              </a:ext>
            </a:extLst>
          </p:cNvPr>
          <p:cNvSpPr txBox="1"/>
          <p:nvPr/>
        </p:nvSpPr>
        <p:spPr>
          <a:xfrm>
            <a:off x="2442199" y="1037714"/>
            <a:ext cx="59189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Machine Learning (ML) is a branch of Artificial Intelligence that enables computers to learn patterns from data and make predictions or decisions without being explicitly programmed for every task.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CC3042-E62A-4C4C-9B42-D12F43CB18B8}"/>
              </a:ext>
            </a:extLst>
          </p:cNvPr>
          <p:cNvSpPr txBox="1"/>
          <p:nvPr/>
        </p:nvSpPr>
        <p:spPr>
          <a:xfrm>
            <a:off x="49270" y="990982"/>
            <a:ext cx="2538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Machine learning: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2A7EF-9F83-4F4A-A998-0679C88ACDBD}"/>
              </a:ext>
            </a:extLst>
          </p:cNvPr>
          <p:cNvSpPr txBox="1"/>
          <p:nvPr/>
        </p:nvSpPr>
        <p:spPr>
          <a:xfrm>
            <a:off x="-11354" y="1645768"/>
            <a:ext cx="4039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Types of Machine Learning: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A2DE8A-1C9B-4F6D-845F-097E773353EE}"/>
              </a:ext>
            </a:extLst>
          </p:cNvPr>
          <p:cNvSpPr txBox="1"/>
          <p:nvPr/>
        </p:nvSpPr>
        <p:spPr>
          <a:xfrm>
            <a:off x="-11354" y="2098555"/>
            <a:ext cx="2743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1. Supervised Learning: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AC8B9-EB15-4EA2-8767-DFCFF99F38BD}"/>
              </a:ext>
            </a:extLst>
          </p:cNvPr>
          <p:cNvSpPr txBox="1"/>
          <p:nvPr/>
        </p:nvSpPr>
        <p:spPr>
          <a:xfrm>
            <a:off x="2526900" y="2173995"/>
            <a:ext cx="618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 </a:t>
            </a:r>
            <a:r>
              <a:rPr lang="en-US" sz="1400" b="1" dirty="0"/>
              <a:t>supervised learning</a:t>
            </a:r>
            <a:r>
              <a:rPr lang="en-US" sz="1400" dirty="0"/>
              <a:t>, the model is trained using </a:t>
            </a:r>
            <a:r>
              <a:rPr lang="en-US" sz="1400" b="1" dirty="0"/>
              <a:t>labeled data</a:t>
            </a:r>
            <a:r>
              <a:rPr lang="en-US" sz="1400" dirty="0"/>
              <a:t>, where both the input and the correct output are provided.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2BAEF4-C03F-41C1-87B4-0CF4DDBD21F3}"/>
              </a:ext>
            </a:extLst>
          </p:cNvPr>
          <p:cNvSpPr txBox="1"/>
          <p:nvPr/>
        </p:nvSpPr>
        <p:spPr>
          <a:xfrm>
            <a:off x="158762" y="2962704"/>
            <a:ext cx="284017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Examples</a:t>
            </a:r>
            <a:r>
              <a:rPr lang="en-US" sz="2000" b="1" dirty="0"/>
              <a:t>: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Email spam detection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E20D8-5C6B-4E2E-934A-6616DC4E3A40}"/>
              </a:ext>
            </a:extLst>
          </p:cNvPr>
          <p:cNvSpPr txBox="1"/>
          <p:nvPr/>
        </p:nvSpPr>
        <p:spPr>
          <a:xfrm>
            <a:off x="2715275" y="2753362"/>
            <a:ext cx="24515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Common algorithms: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Linear Regression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Decision Tree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Random Forest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535CF8-FE49-402B-9CDF-0DB79164ECFA}"/>
              </a:ext>
            </a:extLst>
          </p:cNvPr>
          <p:cNvSpPr txBox="1"/>
          <p:nvPr/>
        </p:nvSpPr>
        <p:spPr>
          <a:xfrm>
            <a:off x="31057" y="3657017"/>
            <a:ext cx="2938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2. Unsupervised Learning: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E7384B-0701-45A6-ACA3-2F8837952B6A}"/>
              </a:ext>
            </a:extLst>
          </p:cNvPr>
          <p:cNvSpPr txBox="1"/>
          <p:nvPr/>
        </p:nvSpPr>
        <p:spPr>
          <a:xfrm>
            <a:off x="2814172" y="3741140"/>
            <a:ext cx="5895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 </a:t>
            </a:r>
            <a:r>
              <a:rPr lang="en-US" sz="1400" b="1" dirty="0"/>
              <a:t>unsupervised learning</a:t>
            </a:r>
            <a:r>
              <a:rPr lang="en-US" sz="1400" dirty="0"/>
              <a:t>, the model is trained on </a:t>
            </a:r>
            <a:r>
              <a:rPr lang="en-US" sz="1400" b="1" dirty="0"/>
              <a:t>unlabeled data</a:t>
            </a:r>
            <a:r>
              <a:rPr lang="en-US" sz="1400" dirty="0"/>
              <a:t>. It tries to discover hidden patterns or groupings in the data.</a:t>
            </a:r>
            <a:endParaRPr lang="en-IN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DFEA4-F3D0-4561-82B9-28284FDE8471}"/>
              </a:ext>
            </a:extLst>
          </p:cNvPr>
          <p:cNvSpPr txBox="1"/>
          <p:nvPr/>
        </p:nvSpPr>
        <p:spPr>
          <a:xfrm>
            <a:off x="146270" y="4414949"/>
            <a:ext cx="2441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Customer segmentation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99D1C3-8085-4D93-B0D0-ADF038B2C900}"/>
              </a:ext>
            </a:extLst>
          </p:cNvPr>
          <p:cNvSpPr txBox="1"/>
          <p:nvPr/>
        </p:nvSpPr>
        <p:spPr>
          <a:xfrm>
            <a:off x="2639807" y="4450300"/>
            <a:ext cx="2202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Common algorithms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K-Means Clustering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EC2154-922C-4EFC-B114-B2DD016D3A2F}"/>
              </a:ext>
            </a:extLst>
          </p:cNvPr>
          <p:cNvSpPr/>
          <p:nvPr/>
        </p:nvSpPr>
        <p:spPr>
          <a:xfrm>
            <a:off x="-28794" y="5022157"/>
            <a:ext cx="3058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3. Reinforcement Learning: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F9447-AAF4-4356-AE23-AE537B492C48}"/>
              </a:ext>
            </a:extLst>
          </p:cNvPr>
          <p:cNvSpPr/>
          <p:nvPr/>
        </p:nvSpPr>
        <p:spPr>
          <a:xfrm>
            <a:off x="2870901" y="5123458"/>
            <a:ext cx="56340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In </a:t>
            </a:r>
            <a:r>
              <a:rPr lang="en-US" sz="1400" b="1" dirty="0"/>
              <a:t>reinforcement learning</a:t>
            </a:r>
            <a:r>
              <a:rPr lang="en-US" sz="1400" dirty="0"/>
              <a:t>, an </a:t>
            </a:r>
            <a:r>
              <a:rPr lang="en-US" sz="1400" b="1" dirty="0"/>
              <a:t>agent</a:t>
            </a:r>
            <a:r>
              <a:rPr lang="en-US" sz="1400" dirty="0"/>
              <a:t> learns by interacting with an environment. It receives </a:t>
            </a:r>
            <a:r>
              <a:rPr lang="en-US" sz="1400" b="1" dirty="0"/>
              <a:t>rewards</a:t>
            </a:r>
            <a:r>
              <a:rPr lang="en-US" sz="1400" dirty="0"/>
              <a:t> for good actions and </a:t>
            </a:r>
            <a:r>
              <a:rPr lang="en-US" sz="1400" b="1" dirty="0"/>
              <a:t>penalties</a:t>
            </a:r>
            <a:r>
              <a:rPr lang="en-US" sz="1400" dirty="0"/>
              <a:t> for bad ones, gradually learning the best strategy</a:t>
            </a:r>
            <a:r>
              <a:rPr lang="en-US" sz="1600" dirty="0"/>
              <a:t>.</a:t>
            </a:r>
            <a:endParaRPr lang="en-IN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1C7A1E-5362-458D-AD35-915C600E4F24}"/>
              </a:ext>
            </a:extLst>
          </p:cNvPr>
          <p:cNvSpPr/>
          <p:nvPr/>
        </p:nvSpPr>
        <p:spPr>
          <a:xfrm>
            <a:off x="158762" y="5969834"/>
            <a:ext cx="21639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Robot navigation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A8E265-D85B-42BF-90CB-765526D37765}"/>
              </a:ext>
            </a:extLst>
          </p:cNvPr>
          <p:cNvSpPr/>
          <p:nvPr/>
        </p:nvSpPr>
        <p:spPr>
          <a:xfrm>
            <a:off x="9622270" y="3267824"/>
            <a:ext cx="3059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749A0C-651E-44E2-842C-097EC829175E}"/>
              </a:ext>
            </a:extLst>
          </p:cNvPr>
          <p:cNvSpPr/>
          <p:nvPr/>
        </p:nvSpPr>
        <p:spPr>
          <a:xfrm>
            <a:off x="9377976" y="4210538"/>
            <a:ext cx="1339280" cy="52243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4. Model Training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 Learn from data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E992F8-796A-47CE-9332-F8E5851443B6}"/>
              </a:ext>
            </a:extLst>
          </p:cNvPr>
          <p:cNvSpPr/>
          <p:nvPr/>
        </p:nvSpPr>
        <p:spPr>
          <a:xfrm flipH="1">
            <a:off x="9193754" y="2325976"/>
            <a:ext cx="1663636" cy="8060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2.Data Pre-processing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• Clean data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 • Handle missing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 • Feature selection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9999BE-F3D3-4A3E-B964-05689C0BA116}"/>
              </a:ext>
            </a:extLst>
          </p:cNvPr>
          <p:cNvSpPr/>
          <p:nvPr/>
        </p:nvSpPr>
        <p:spPr>
          <a:xfrm>
            <a:off x="9251460" y="3403182"/>
            <a:ext cx="1663637" cy="52243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3. Train-Test Split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 (80% Train, 20% Test)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8243FE-6899-424B-B2C6-D298768C0009}"/>
              </a:ext>
            </a:extLst>
          </p:cNvPr>
          <p:cNvSpPr/>
          <p:nvPr/>
        </p:nvSpPr>
        <p:spPr>
          <a:xfrm>
            <a:off x="9538953" y="5856549"/>
            <a:ext cx="1156060" cy="52533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6. Prediction &amp; </a:t>
            </a:r>
            <a:br>
              <a:rPr lang="en-IN" sz="1200" b="1" dirty="0">
                <a:solidFill>
                  <a:schemeClr val="tx1"/>
                </a:solidFill>
              </a:rPr>
            </a:br>
            <a:r>
              <a:rPr lang="en-IN" sz="1200" b="1" dirty="0">
                <a:solidFill>
                  <a:schemeClr val="tx1"/>
                </a:solidFill>
              </a:rPr>
              <a:t> Deployment 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3CD3C93C-5577-4A05-B9FD-0F5B3C371791}"/>
              </a:ext>
            </a:extLst>
          </p:cNvPr>
          <p:cNvSpPr/>
          <p:nvPr/>
        </p:nvSpPr>
        <p:spPr>
          <a:xfrm>
            <a:off x="10006071" y="2066251"/>
            <a:ext cx="195308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24BD9CFB-CC16-4599-9D05-B82026F52863}"/>
              </a:ext>
            </a:extLst>
          </p:cNvPr>
          <p:cNvSpPr/>
          <p:nvPr/>
        </p:nvSpPr>
        <p:spPr>
          <a:xfrm>
            <a:off x="10023827" y="3122000"/>
            <a:ext cx="153459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1731987-8A61-4971-AB12-59F3B525C9C4}"/>
              </a:ext>
            </a:extLst>
          </p:cNvPr>
          <p:cNvSpPr/>
          <p:nvPr/>
        </p:nvSpPr>
        <p:spPr>
          <a:xfrm>
            <a:off x="10023827" y="3930945"/>
            <a:ext cx="153459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C4AABBC-E13C-4C06-A0B6-D7DB1BC632EB}"/>
              </a:ext>
            </a:extLst>
          </p:cNvPr>
          <p:cNvSpPr/>
          <p:nvPr/>
        </p:nvSpPr>
        <p:spPr>
          <a:xfrm flipH="1">
            <a:off x="10053553" y="5615901"/>
            <a:ext cx="143696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D8EC41D-1883-4887-BC5F-B6BCEDF7AEBA}"/>
              </a:ext>
            </a:extLst>
          </p:cNvPr>
          <p:cNvSpPr/>
          <p:nvPr/>
        </p:nvSpPr>
        <p:spPr>
          <a:xfrm>
            <a:off x="10043790" y="4738993"/>
            <a:ext cx="153459" cy="265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ED026F-A12B-4AD4-B687-1C0287679871}"/>
              </a:ext>
            </a:extLst>
          </p:cNvPr>
          <p:cNvSpPr/>
          <p:nvPr/>
        </p:nvSpPr>
        <p:spPr>
          <a:xfrm>
            <a:off x="9211739" y="4990498"/>
            <a:ext cx="1776240" cy="65971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5. Model Evaluation 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Accuracy, Precision,  Recall, F1 Score 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3478C6-1CEC-4632-BC0C-0DF7D6D4533C}"/>
              </a:ext>
            </a:extLst>
          </p:cNvPr>
          <p:cNvSpPr/>
          <p:nvPr/>
        </p:nvSpPr>
        <p:spPr>
          <a:xfrm>
            <a:off x="9324016" y="1608759"/>
            <a:ext cx="1459073" cy="4044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1. Data Collection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70C8B3-43D9-45AA-ACCC-DA71D7273DDF}"/>
              </a:ext>
            </a:extLst>
          </p:cNvPr>
          <p:cNvSpPr/>
          <p:nvPr/>
        </p:nvSpPr>
        <p:spPr>
          <a:xfrm>
            <a:off x="8916014" y="1067953"/>
            <a:ext cx="2926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Machine learning workflow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-9465" y="809992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  3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946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Data Preprocessing &amp; EDA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70FBC2-E85C-46B5-8BA6-7CBDDC841EED}"/>
              </a:ext>
            </a:extLst>
          </p:cNvPr>
          <p:cNvSpPr txBox="1"/>
          <p:nvPr/>
        </p:nvSpPr>
        <p:spPr>
          <a:xfrm>
            <a:off x="8876" y="914393"/>
            <a:ext cx="4590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 Preprocessing in Machine Learning</a:t>
            </a:r>
            <a:r>
              <a:rPr lang="en-IN" sz="2000" b="1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8E5A9D-52C6-480D-9925-274933BA2BEB}"/>
              </a:ext>
            </a:extLst>
          </p:cNvPr>
          <p:cNvSpPr txBox="1"/>
          <p:nvPr/>
        </p:nvSpPr>
        <p:spPr>
          <a:xfrm>
            <a:off x="4399983" y="952090"/>
            <a:ext cx="7782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preprocessing is the process of cleaning and transforming raw data into a suitable format for machine learning models.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F7721-09D7-4E82-90E6-CD0489F9E061}"/>
              </a:ext>
            </a:extLst>
          </p:cNvPr>
          <p:cNvSpPr/>
          <p:nvPr/>
        </p:nvSpPr>
        <p:spPr>
          <a:xfrm>
            <a:off x="-69764" y="1610445"/>
            <a:ext cx="29216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Handling Missing Values: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59CAA3-4CDA-4D84-A81B-7A70FDB89A11}"/>
              </a:ext>
            </a:extLst>
          </p:cNvPr>
          <p:cNvSpPr/>
          <p:nvPr/>
        </p:nvSpPr>
        <p:spPr>
          <a:xfrm>
            <a:off x="2661719" y="1616946"/>
            <a:ext cx="88315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Missing values occur when data is not recorded for some observations.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BD5CFE-1D5E-4EFB-BDD3-83BA33F9FB77}"/>
              </a:ext>
            </a:extLst>
          </p:cNvPr>
          <p:cNvSpPr/>
          <p:nvPr/>
        </p:nvSpPr>
        <p:spPr>
          <a:xfrm>
            <a:off x="-69764" y="2086305"/>
            <a:ext cx="115630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Methods to Handle Missing Values: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  <a:latin typeface="Arial Unicode MS"/>
              </a:rPr>
              <a:t>fillna()</a:t>
            </a:r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en-US" dirty="0"/>
              <a:t>→ Replace missing values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  <a:latin typeface="Arial Unicode MS"/>
              </a:rPr>
              <a:t>dropna()</a:t>
            </a:r>
            <a:r>
              <a:rPr lang="en-US" alt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en-US" dirty="0"/>
              <a:t>→ Remove missing values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0FDA1A-C259-4314-A086-698881BA98CB}"/>
              </a:ext>
            </a:extLst>
          </p:cNvPr>
          <p:cNvSpPr/>
          <p:nvPr/>
        </p:nvSpPr>
        <p:spPr>
          <a:xfrm>
            <a:off x="-9465" y="3512756"/>
            <a:ext cx="3497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Encoding Categorical Variables: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1CBC65-171E-45DD-95F6-A031B5BABF7E}"/>
              </a:ext>
            </a:extLst>
          </p:cNvPr>
          <p:cNvSpPr/>
          <p:nvPr/>
        </p:nvSpPr>
        <p:spPr>
          <a:xfrm>
            <a:off x="3350954" y="3536143"/>
            <a:ext cx="88315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Encoding categorical variables means converting </a:t>
            </a:r>
            <a:r>
              <a:rPr lang="en-US" b="1" dirty="0"/>
              <a:t>text-based data (categories)</a:t>
            </a:r>
            <a:r>
              <a:rPr lang="en-US" dirty="0"/>
              <a:t> into </a:t>
            </a:r>
            <a:r>
              <a:rPr lang="en-US" b="1" dirty="0"/>
              <a:t>numerical form</a:t>
            </a:r>
            <a:r>
              <a:rPr lang="en-US" dirty="0"/>
              <a:t>, so that machine learning models can understand and process it.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5AE150-2C15-49E2-90CB-FFDAA9319F43}"/>
              </a:ext>
            </a:extLst>
          </p:cNvPr>
          <p:cNvSpPr/>
          <p:nvPr/>
        </p:nvSpPr>
        <p:spPr>
          <a:xfrm>
            <a:off x="8874" y="4323213"/>
            <a:ext cx="1217365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Types of Encoding: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L</a:t>
            </a: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abel Encoder: </a:t>
            </a:r>
            <a:r>
              <a:rPr lang="en-US" dirty="0"/>
              <a:t>Label Encoding converts each category into a </a:t>
            </a:r>
            <a:r>
              <a:rPr lang="en-US" b="1" dirty="0"/>
              <a:t>unique integer value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One-Hot Encoding:</a:t>
            </a:r>
            <a:r>
              <a:rPr lang="en-US" dirty="0"/>
              <a:t>One-Hot Encoding creates a </a:t>
            </a:r>
            <a:r>
              <a:rPr lang="en-US" b="1" dirty="0"/>
              <a:t>separate column for each category</a:t>
            </a:r>
            <a:r>
              <a:rPr lang="en-US" dirty="0"/>
              <a:t> and uses:</a:t>
            </a:r>
          </a:p>
          <a:p>
            <a:r>
              <a:rPr lang="en-US" dirty="0"/>
              <a:t>     1 → category is present </a:t>
            </a:r>
          </a:p>
          <a:p>
            <a:r>
              <a:rPr lang="en-US" dirty="0"/>
              <a:t>     0 → category is not present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AA2A16-D942-40C3-B2FD-A27875E43EA9}"/>
              </a:ext>
            </a:extLst>
          </p:cNvPr>
          <p:cNvSpPr/>
          <p:nvPr/>
        </p:nvSpPr>
        <p:spPr>
          <a:xfrm>
            <a:off x="8875" y="424775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191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 4</a:t>
            </a:r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AA4E9A-1932-49E2-B449-A7095F9E1562}"/>
              </a:ext>
            </a:extLst>
          </p:cNvPr>
          <p:cNvSpPr txBox="1"/>
          <p:nvPr/>
        </p:nvSpPr>
        <p:spPr>
          <a:xfrm>
            <a:off x="23835" y="992530"/>
            <a:ext cx="12168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Feature Scaling: </a:t>
            </a:r>
            <a:r>
              <a:rPr lang="en-US" dirty="0"/>
              <a:t>Feature scaling is the process of transforming numerical features into a </a:t>
            </a:r>
            <a:r>
              <a:rPr lang="en-US" b="1" dirty="0"/>
              <a:t>common scale</a:t>
            </a:r>
            <a:r>
              <a:rPr lang="en-US" dirty="0"/>
              <a:t> so that all variables contribute equally to machine learning models.</a:t>
            </a:r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StandardScaler: </a:t>
            </a:r>
            <a:r>
              <a:rPr lang="en-US" dirty="0"/>
              <a:t>StandardScaler transforms data so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= 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deviation = 1 </a:t>
            </a:r>
          </a:p>
          <a:p>
            <a:r>
              <a:rPr lang="en-US" dirty="0"/>
              <a:t>This is also called </a:t>
            </a:r>
            <a:r>
              <a:rPr lang="en-US" b="1" dirty="0"/>
              <a:t>Z-score normalization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 MinMaxScaler: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/>
              <a:t>MinMaxScaler</a:t>
            </a:r>
            <a:r>
              <a:rPr lang="en-US" dirty="0"/>
              <a:t> rescales features to a fixed range, usually </a:t>
            </a:r>
            <a:r>
              <a:rPr lang="en-US" b="1" dirty="0"/>
              <a:t>0 to 1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BA4132-C158-498D-83FA-6DE5044541EB}"/>
              </a:ext>
            </a:extLst>
          </p:cNvPr>
          <p:cNvSpPr/>
          <p:nvPr/>
        </p:nvSpPr>
        <p:spPr>
          <a:xfrm>
            <a:off x="-1" y="3766905"/>
            <a:ext cx="1216816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Train-Test Split: </a:t>
            </a:r>
            <a:r>
              <a:rPr lang="en-US" dirty="0"/>
              <a:t>Train-test split is the process of dividing a dataset into </a:t>
            </a:r>
            <a:r>
              <a:rPr lang="en-US" b="1" dirty="0"/>
              <a:t>two separate parts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Training Set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/>
              <a:t>– Used to train the machine learning model.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Testing Set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/>
              <a:t>– Used to evaluate the model's performance on unseen data. </a:t>
            </a:r>
          </a:p>
          <a:p>
            <a:endParaRPr lang="en-IN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280DC-3915-4F85-96D2-2EFDF2D9EDF7}"/>
              </a:ext>
            </a:extLst>
          </p:cNvPr>
          <p:cNvSpPr txBox="1"/>
          <p:nvPr/>
        </p:nvSpPr>
        <p:spPr>
          <a:xfrm>
            <a:off x="23835" y="283864"/>
            <a:ext cx="2796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 scaling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74251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 5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77369" y="13923"/>
            <a:ext cx="1176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Exploratory Data Analysis (EDA):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2077177" y="362722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D3E621-3EF7-4696-ADEF-1E515D5B441D}"/>
              </a:ext>
            </a:extLst>
          </p:cNvPr>
          <p:cNvSpPr/>
          <p:nvPr/>
        </p:nvSpPr>
        <p:spPr>
          <a:xfrm>
            <a:off x="1" y="892349"/>
            <a:ext cx="620782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Exploratory Data Analysis (EDA)</a:t>
            </a:r>
            <a:r>
              <a:rPr lang="en-US" sz="1400" dirty="0"/>
              <a:t> is the process of analyzing and visualizing a dataset to understand its structure, patterns, relationships, and anomalies before building a machine learning model.</a:t>
            </a:r>
            <a:endParaRPr lang="en-IN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6933FA-C455-4871-A430-6699A246789B}"/>
              </a:ext>
            </a:extLst>
          </p:cNvPr>
          <p:cNvSpPr/>
          <p:nvPr/>
        </p:nvSpPr>
        <p:spPr>
          <a:xfrm>
            <a:off x="35512" y="1595755"/>
            <a:ext cx="23043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Libraries Used for EDA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C37F81-8CE5-4CF8-AC16-AD514BDF144A}"/>
              </a:ext>
            </a:extLst>
          </p:cNvPr>
          <p:cNvSpPr/>
          <p:nvPr/>
        </p:nvSpPr>
        <p:spPr>
          <a:xfrm>
            <a:off x="0" y="1965087"/>
            <a:ext cx="1428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1. Matplotlib</a:t>
            </a: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B4AFFCD8-8CC6-43CA-891D-5BBBE9081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01" y="2087006"/>
            <a:ext cx="538641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Creates line charts, bar charts, histograms, scatter plots, etc.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customizable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plotting library in Python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F5B806-622B-4530-BEBF-3FE5DA429C4D}"/>
              </a:ext>
            </a:extLst>
          </p:cNvPr>
          <p:cNvSpPr/>
          <p:nvPr/>
        </p:nvSpPr>
        <p:spPr>
          <a:xfrm>
            <a:off x="24101" y="3054247"/>
            <a:ext cx="12057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2. Seaborn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0C7C2796-6FEF-417C-B2C8-2D6766606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4063"/>
            <a:ext cx="510107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attractive and informative statistical visualizations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less code than Matplotlib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on top of Matplotlib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B9E71C-1E24-40EC-9911-EA87C41EF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015" y="1951019"/>
            <a:ext cx="4062249" cy="417544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7BCC219-7065-4025-852A-B45D7EC38EE6}"/>
              </a:ext>
            </a:extLst>
          </p:cNvPr>
          <p:cNvSpPr/>
          <p:nvPr/>
        </p:nvSpPr>
        <p:spPr>
          <a:xfrm>
            <a:off x="6207822" y="1643305"/>
            <a:ext cx="2604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Common EDA Workflow :</a:t>
            </a:r>
            <a:endParaRPr lang="en-IN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D64765-4ECB-40F5-A5B2-3FC5F2226434}"/>
              </a:ext>
            </a:extLst>
          </p:cNvPr>
          <p:cNvSpPr/>
          <p:nvPr/>
        </p:nvSpPr>
        <p:spPr>
          <a:xfrm>
            <a:off x="24101" y="4679504"/>
            <a:ext cx="30846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>
                <a:solidFill>
                  <a:schemeClr val="accent5"/>
                </a:solidFill>
              </a:rPr>
              <a:t>Common Visualization Techniques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4E498A-7366-4814-95E1-5F5BD1FC0C35}"/>
              </a:ext>
            </a:extLst>
          </p:cNvPr>
          <p:cNvSpPr/>
          <p:nvPr/>
        </p:nvSpPr>
        <p:spPr>
          <a:xfrm>
            <a:off x="35512" y="5098576"/>
            <a:ext cx="70462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600" b="1" dirty="0"/>
              <a:t>Histogram :   </a:t>
            </a:r>
            <a:r>
              <a:rPr lang="en-US" sz="1600" dirty="0"/>
              <a:t>Shows the distribution of numerical data.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 Box Plot :      </a:t>
            </a:r>
            <a:r>
              <a:rPr lang="en-US" sz="1600" dirty="0"/>
              <a:t>Detects outliers and shows data spread.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 </a:t>
            </a:r>
            <a:r>
              <a:rPr lang="en-IN" sz="1600" b="1" dirty="0"/>
              <a:t>Scatter Plot :</a:t>
            </a:r>
            <a:r>
              <a:rPr lang="en-US" sz="1600" dirty="0"/>
              <a:t>Shows the relationship between two numerical variables.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Bar Chart :     </a:t>
            </a:r>
            <a:r>
              <a:rPr lang="en-IN" sz="1600" dirty="0"/>
              <a:t>Compares different categories.</a:t>
            </a:r>
          </a:p>
        </p:txBody>
      </p:sp>
    </p:spTree>
    <p:extLst>
      <p:ext uri="{BB962C8B-B14F-4D97-AF65-F5344CB8AC3E}">
        <p14:creationId xmlns:p14="http://schemas.microsoft.com/office/powerpoint/2010/main" val="205462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6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0131"/>
            <a:ext cx="1176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Linear &amp; Logistic Regression 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2DE8A8-4F9C-49D3-8480-E2F0E58A0525}"/>
              </a:ext>
            </a:extLst>
          </p:cNvPr>
          <p:cNvSpPr/>
          <p:nvPr/>
        </p:nvSpPr>
        <p:spPr>
          <a:xfrm>
            <a:off x="0" y="904398"/>
            <a:ext cx="12191999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Linear Regression</a:t>
            </a:r>
            <a:r>
              <a:rPr lang="en-IN" b="1" dirty="0"/>
              <a:t>: </a:t>
            </a:r>
            <a:r>
              <a:rPr lang="en-US" b="1" dirty="0"/>
              <a:t>Linear Regression</a:t>
            </a:r>
            <a:r>
              <a:rPr lang="en-US" dirty="0"/>
              <a:t> is a supervised machine learning algorithm used to predict a </a:t>
            </a:r>
            <a:r>
              <a:rPr lang="en-US" b="1" dirty="0"/>
              <a:t>continuous numerical value</a:t>
            </a:r>
            <a:r>
              <a:rPr lang="en-US" dirty="0"/>
              <a:t> based on one or more input features.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Predicting house prices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Predicting employee salary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Cost Function (Error Function): </a:t>
            </a:r>
            <a:r>
              <a:rPr lang="en-US" dirty="0"/>
              <a:t>It measures how wrong the model is.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Gradient Descent:</a:t>
            </a:r>
            <a:r>
              <a:rPr lang="en-US" b="1" dirty="0"/>
              <a:t>Gradient Descent</a:t>
            </a:r>
            <a:r>
              <a:rPr lang="en-US" dirty="0"/>
              <a:t> is an algorithm used to </a:t>
            </a:r>
            <a:r>
              <a:rPr lang="en-US" b="1" dirty="0"/>
              <a:t>reduce the cost (error)</a:t>
            </a:r>
            <a:r>
              <a:rPr lang="en-US" dirty="0"/>
              <a:t> by updating the model's parameters (weights).</a:t>
            </a:r>
            <a:r>
              <a:rPr lang="en-IN" b="1" dirty="0"/>
              <a:t> 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BE2C20-4767-43FF-952B-67260D619074}"/>
              </a:ext>
            </a:extLst>
          </p:cNvPr>
          <p:cNvSpPr/>
          <p:nvPr/>
        </p:nvSpPr>
        <p:spPr>
          <a:xfrm>
            <a:off x="11832" y="3736548"/>
            <a:ext cx="1217128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Logistic Regression for Binary Classification: </a:t>
            </a:r>
            <a:r>
              <a:rPr lang="en-US" b="1" dirty="0"/>
              <a:t>Logistic Regression</a:t>
            </a:r>
            <a:r>
              <a:rPr lang="en-US" dirty="0"/>
              <a:t> is a machine learning algorithm used to </a:t>
            </a:r>
            <a:r>
              <a:rPr lang="en-US" b="1" dirty="0"/>
              <a:t>classify data into two groups</a:t>
            </a:r>
            <a:r>
              <a:rPr lang="en-US" dirty="0"/>
              <a:t>.</a:t>
            </a:r>
          </a:p>
          <a:p>
            <a:r>
              <a:rPr lang="en-US" dirty="0"/>
              <a:t>This is called </a:t>
            </a:r>
            <a:r>
              <a:rPr lang="en-US" b="1" dirty="0"/>
              <a:t>binary classification</a:t>
            </a:r>
            <a:r>
              <a:rPr lang="en-US" dirty="0"/>
              <a:t> because there are only </a:t>
            </a:r>
            <a:r>
              <a:rPr lang="en-US" b="1" dirty="0"/>
              <a:t>two possible outputs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0 = No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1 = Yes</a:t>
            </a:r>
            <a:endParaRPr lang="en-US" dirty="0"/>
          </a:p>
          <a:p>
            <a:r>
              <a:rPr lang="en-US" b="1" dirty="0"/>
              <a:t> </a:t>
            </a:r>
            <a:r>
              <a:rPr lang="en-US" b="1" dirty="0">
                <a:solidFill>
                  <a:schemeClr val="tx2"/>
                </a:solidFill>
              </a:rPr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→ </a:t>
            </a:r>
            <a:r>
              <a:rPr lang="en-US" b="1" dirty="0"/>
              <a:t>Spam (1)</a:t>
            </a:r>
            <a:r>
              <a:rPr lang="en-US" dirty="0"/>
              <a:t> or </a:t>
            </a:r>
            <a:r>
              <a:rPr lang="en-US" b="1" dirty="0"/>
              <a:t>Not Spam (0)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→ </a:t>
            </a:r>
            <a:r>
              <a:rPr lang="en-US" b="1" dirty="0"/>
              <a:t>Pass (1)</a:t>
            </a:r>
            <a:r>
              <a:rPr lang="en-US" dirty="0"/>
              <a:t> or </a:t>
            </a:r>
            <a:r>
              <a:rPr lang="en-US" b="1" dirty="0"/>
              <a:t>Fail (0)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33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7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0131"/>
            <a:ext cx="1176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Metrics(Regression Model):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1609817" y="253498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3A4659-1ACD-4611-8A31-92C4AE5E0411}"/>
              </a:ext>
            </a:extLst>
          </p:cNvPr>
          <p:cNvSpPr/>
          <p:nvPr/>
        </p:nvSpPr>
        <p:spPr>
          <a:xfrm>
            <a:off x="91515" y="1021469"/>
            <a:ext cx="2866227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MSE (Mean Squared Error):</a:t>
            </a:r>
          </a:p>
          <a:p>
            <a:r>
              <a:rPr lang="en-US" sz="1400" dirty="0"/>
              <a:t>MSE tells </a:t>
            </a:r>
            <a:r>
              <a:rPr lang="en-US" sz="1400" b="1" dirty="0"/>
              <a:t>how far predictions are from actual values.</a:t>
            </a:r>
          </a:p>
          <a:p>
            <a:r>
              <a:rPr lang="en-US" sz="1600" b="1" dirty="0"/>
              <a:t>Formula:</a:t>
            </a: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IN" sz="1400" dirty="0"/>
              <a:t>Lower MSE = better model</a:t>
            </a:r>
            <a:endParaRPr lang="en-US" sz="1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080F49-3ED3-4172-9BDC-E2B6E2B4574B}"/>
              </a:ext>
            </a:extLst>
          </p:cNvPr>
          <p:cNvSpPr/>
          <p:nvPr/>
        </p:nvSpPr>
        <p:spPr>
          <a:xfrm>
            <a:off x="0" y="154509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821114-82D2-4953-A686-070A90757E81}"/>
              </a:ext>
            </a:extLst>
          </p:cNvPr>
          <p:cNvSpPr/>
          <p:nvPr/>
        </p:nvSpPr>
        <p:spPr>
          <a:xfrm>
            <a:off x="152400" y="169749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F12C9D-0D2A-4B8C-909F-6D7C2E8B5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27" y="1846299"/>
            <a:ext cx="1895740" cy="5525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F303EA-5D37-4ED1-9746-813F0858CF90}"/>
              </a:ext>
            </a:extLst>
          </p:cNvPr>
          <p:cNvSpPr/>
          <p:nvPr/>
        </p:nvSpPr>
        <p:spPr>
          <a:xfrm>
            <a:off x="3670908" y="1039225"/>
            <a:ext cx="2987345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 RMSE (Root Mean Squared Error):</a:t>
            </a:r>
          </a:p>
          <a:p>
            <a:r>
              <a:rPr lang="en-US" sz="1400" dirty="0"/>
              <a:t>RMSE is just </a:t>
            </a:r>
            <a:r>
              <a:rPr lang="en-US" sz="1400" b="1" dirty="0"/>
              <a:t>square root of MSE</a:t>
            </a:r>
          </a:p>
          <a:p>
            <a:r>
              <a:rPr lang="en-US" sz="1600" b="1" dirty="0"/>
              <a:t>F</a:t>
            </a:r>
            <a:r>
              <a:rPr lang="en-IN" sz="1600" b="1" dirty="0"/>
              <a:t>ormula:</a:t>
            </a:r>
          </a:p>
          <a:p>
            <a:endParaRPr lang="en-US" sz="1600" b="1" dirty="0"/>
          </a:p>
          <a:p>
            <a:r>
              <a:rPr lang="en-US" sz="1400" dirty="0"/>
              <a:t>Shows error in </a:t>
            </a:r>
            <a:r>
              <a:rPr lang="en-US" sz="1400" b="1" dirty="0"/>
              <a:t>original units</a:t>
            </a:r>
          </a:p>
          <a:p>
            <a:endParaRPr lang="en-US" sz="16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E61464-5D04-445E-81A8-78F5937FB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817" y="1826037"/>
            <a:ext cx="1600423" cy="34294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E4A9D2C-0903-422E-8F1D-8B70A1D7D8C3}"/>
              </a:ext>
            </a:extLst>
          </p:cNvPr>
          <p:cNvSpPr/>
          <p:nvPr/>
        </p:nvSpPr>
        <p:spPr>
          <a:xfrm>
            <a:off x="8039362" y="1056505"/>
            <a:ext cx="2987345" cy="1631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R² Score:</a:t>
            </a:r>
          </a:p>
          <a:p>
            <a:r>
              <a:rPr lang="en-US" sz="1400" dirty="0"/>
              <a:t>Shows how well model explains data.</a:t>
            </a:r>
          </a:p>
          <a:p>
            <a:r>
              <a:rPr lang="en-US" sz="1400" b="1" dirty="0"/>
              <a:t>Range:</a:t>
            </a:r>
          </a:p>
          <a:p>
            <a:r>
              <a:rPr lang="en-US" sz="1400" dirty="0"/>
              <a:t>1 → Perfect model </a:t>
            </a:r>
          </a:p>
          <a:p>
            <a:r>
              <a:rPr lang="en-US" sz="1400" dirty="0"/>
              <a:t>0 → Bad model </a:t>
            </a:r>
          </a:p>
          <a:p>
            <a:r>
              <a:rPr lang="en-US" sz="1400" dirty="0"/>
              <a:t>Negative → Worse model</a:t>
            </a:r>
          </a:p>
          <a:p>
            <a:endParaRPr lang="en-US" sz="14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2E5EAA-7596-4E1C-AB4C-7742E4132874}"/>
              </a:ext>
            </a:extLst>
          </p:cNvPr>
          <p:cNvSpPr/>
          <p:nvPr/>
        </p:nvSpPr>
        <p:spPr>
          <a:xfrm>
            <a:off x="55611" y="3286395"/>
            <a:ext cx="2902131" cy="2000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Accuracy:</a:t>
            </a:r>
          </a:p>
          <a:p>
            <a:r>
              <a:rPr lang="en-US" sz="1400" dirty="0"/>
              <a:t>Accuracy tells </a:t>
            </a:r>
            <a:r>
              <a:rPr lang="en-US" sz="1400" b="1" dirty="0"/>
              <a:t>how many predictions are correct</a:t>
            </a:r>
          </a:p>
          <a:p>
            <a:r>
              <a:rPr lang="en-US" sz="1600" b="1" dirty="0"/>
              <a:t>Formula:</a:t>
            </a:r>
          </a:p>
          <a:p>
            <a:endParaRPr lang="en-US" sz="1600" b="1" dirty="0"/>
          </a:p>
          <a:p>
            <a:endParaRPr lang="en-US" sz="1400" b="1" dirty="0"/>
          </a:p>
          <a:p>
            <a:r>
              <a:rPr lang="en-IN" sz="1400" dirty="0"/>
              <a:t>Used in classification.</a:t>
            </a:r>
          </a:p>
          <a:p>
            <a:endParaRPr lang="en-US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6409040-E37A-44B8-818B-C0BA921228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27" y="4071412"/>
            <a:ext cx="1838582" cy="65731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D174563-02DB-49B1-8E03-73AF0C386C4B}"/>
              </a:ext>
            </a:extLst>
          </p:cNvPr>
          <p:cNvSpPr/>
          <p:nvPr/>
        </p:nvSpPr>
        <p:spPr>
          <a:xfrm>
            <a:off x="3662031" y="3201000"/>
            <a:ext cx="3782527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Confusion Matrix:</a:t>
            </a:r>
          </a:p>
          <a:p>
            <a:r>
              <a:rPr lang="en-US" sz="1400" dirty="0"/>
              <a:t>A table that shows </a:t>
            </a:r>
            <a:r>
              <a:rPr lang="en-US" sz="1400" b="1" dirty="0"/>
              <a:t>correct and wrong predictions in detail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818E94D-EEF7-4102-815B-1B44BF270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447" y="3993750"/>
            <a:ext cx="3671965" cy="167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8</a:t>
            </a:r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1B3803-8410-4A5F-83A0-BCD563D898BF}"/>
              </a:ext>
            </a:extLst>
          </p:cNvPr>
          <p:cNvSpPr/>
          <p:nvPr/>
        </p:nvSpPr>
        <p:spPr>
          <a:xfrm>
            <a:off x="-30648" y="281751"/>
            <a:ext cx="52280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Decision Trees &amp; Random Forests: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61C9CB-D636-4203-B373-C359ACA36118}"/>
              </a:ext>
            </a:extLst>
          </p:cNvPr>
          <p:cNvSpPr/>
          <p:nvPr/>
        </p:nvSpPr>
        <p:spPr>
          <a:xfrm>
            <a:off x="177552" y="952605"/>
            <a:ext cx="48116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50000"/>
                  </a:schemeClr>
                </a:solidFill>
              </a:rPr>
              <a:t>Decision Tree:</a:t>
            </a:r>
          </a:p>
          <a:p>
            <a:r>
              <a:rPr lang="en-IN" sz="1600" b="1" dirty="0">
                <a:solidFill>
                  <a:schemeClr val="tx2"/>
                </a:solidFill>
              </a:rPr>
              <a:t>  </a:t>
            </a:r>
            <a:r>
              <a:rPr lang="en-US" sz="1600" dirty="0"/>
              <a:t>A </a:t>
            </a:r>
            <a:r>
              <a:rPr lang="en-US" sz="1600" b="1" dirty="0"/>
              <a:t>Decision Tree</a:t>
            </a:r>
            <a:r>
              <a:rPr lang="en-US" sz="1600" dirty="0"/>
              <a:t> is a machine learning algorithm that makes decisions by asking </a:t>
            </a:r>
            <a:r>
              <a:rPr lang="en-US" sz="1600" b="1" dirty="0"/>
              <a:t>questions step by step</a:t>
            </a:r>
            <a:r>
              <a:rPr lang="en-US" sz="1600" dirty="0"/>
              <a:t>, just like a flowchart.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 </a:t>
            </a:r>
            <a:r>
              <a:rPr lang="en-US" sz="1600" b="1" dirty="0"/>
              <a:t>Decision Tree</a:t>
            </a:r>
            <a:r>
              <a:rPr lang="en-US" sz="1600" dirty="0"/>
              <a:t> splits data step-by-step to make decisions.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To decide the </a:t>
            </a:r>
            <a:r>
              <a:rPr lang="en-US" sz="1600" b="1" dirty="0"/>
              <a:t>best split</a:t>
            </a:r>
            <a:r>
              <a:rPr lang="en-US" sz="1600" dirty="0"/>
              <a:t>, it uses 3 important concepts:</a:t>
            </a:r>
          </a:p>
          <a:p>
            <a:r>
              <a:rPr lang="en-IN" sz="1600" dirty="0"/>
              <a:t> 1.Gini Impurity        2. Entropy        3.  Information Gain</a:t>
            </a:r>
            <a:endParaRPr lang="en-IN" sz="1600" b="1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06CB2F-070E-4667-8616-9740BA0B6A0C}"/>
              </a:ext>
            </a:extLst>
          </p:cNvPr>
          <p:cNvSpPr/>
          <p:nvPr/>
        </p:nvSpPr>
        <p:spPr>
          <a:xfrm>
            <a:off x="6083761" y="961953"/>
            <a:ext cx="5758888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50000"/>
                  </a:schemeClr>
                </a:solidFill>
              </a:rPr>
              <a:t>Random Forest:</a:t>
            </a:r>
          </a:p>
          <a:p>
            <a:r>
              <a:rPr lang="en-US" sz="1400" b="1" dirty="0"/>
              <a:t>Random Forest</a:t>
            </a:r>
            <a:r>
              <a:rPr lang="en-US" sz="1400" dirty="0"/>
              <a:t> is a </a:t>
            </a:r>
            <a:r>
              <a:rPr lang="en-US" sz="1400" b="1" dirty="0"/>
              <a:t>supervised machine learning algorithm</a:t>
            </a:r>
            <a:r>
              <a:rPr lang="en-US" sz="1400" dirty="0"/>
              <a:t> that combines </a:t>
            </a:r>
            <a:r>
              <a:rPr lang="en-US" sz="1400" b="1" dirty="0"/>
              <a:t>multiple decision trees</a:t>
            </a:r>
            <a:r>
              <a:rPr lang="en-US" sz="1400" dirty="0"/>
              <a:t> to make more accurate and reliable predictions. It can be used for both </a:t>
            </a:r>
            <a:r>
              <a:rPr lang="en-US" sz="1400" b="1" dirty="0"/>
              <a:t>classification</a:t>
            </a:r>
            <a:r>
              <a:rPr lang="en-US" sz="1400" dirty="0"/>
              <a:t> and </a:t>
            </a:r>
            <a:r>
              <a:rPr lang="en-US" sz="1400" b="1" dirty="0"/>
              <a:t>regression</a:t>
            </a:r>
            <a:r>
              <a:rPr lang="en-US" sz="1400" dirty="0"/>
              <a:t> problems.</a:t>
            </a:r>
          </a:p>
          <a:p>
            <a:r>
              <a:rPr lang="en-US" sz="1400" b="1" dirty="0"/>
              <a:t>Example</a:t>
            </a:r>
          </a:p>
          <a:p>
            <a:r>
              <a:rPr lang="en-US" sz="1400" dirty="0"/>
              <a:t>Suppose you want to predict whether a customer will buy a product.</a:t>
            </a:r>
          </a:p>
          <a:p>
            <a:r>
              <a:rPr lang="en-US" sz="1400" dirty="0"/>
              <a:t>Tree 1 → </a:t>
            </a:r>
            <a:r>
              <a:rPr lang="en-US" sz="1400" b="1" dirty="0"/>
              <a:t>Yes</a:t>
            </a:r>
            <a:r>
              <a:rPr lang="en-US" sz="1400" dirty="0"/>
              <a:t> </a:t>
            </a:r>
          </a:p>
          <a:p>
            <a:r>
              <a:rPr lang="en-US" sz="1400" dirty="0"/>
              <a:t>Tree 2 → </a:t>
            </a:r>
            <a:r>
              <a:rPr lang="en-US" sz="1400" b="1" dirty="0"/>
              <a:t>Yes</a:t>
            </a:r>
            <a:r>
              <a:rPr lang="en-US" sz="1400" dirty="0"/>
              <a:t> </a:t>
            </a:r>
          </a:p>
          <a:p>
            <a:r>
              <a:rPr lang="en-US" sz="1400" dirty="0"/>
              <a:t>Tree 3 → </a:t>
            </a:r>
            <a:r>
              <a:rPr lang="en-US" sz="1400" b="1" dirty="0"/>
              <a:t>No</a:t>
            </a:r>
            <a:r>
              <a:rPr lang="en-US" sz="1400" dirty="0"/>
              <a:t> </a:t>
            </a:r>
          </a:p>
          <a:p>
            <a:r>
              <a:rPr lang="en-US" sz="1400" dirty="0"/>
              <a:t>Tree 4 → </a:t>
            </a:r>
            <a:r>
              <a:rPr lang="en-US" sz="1400" b="1" dirty="0"/>
              <a:t>Yes</a:t>
            </a:r>
            <a:r>
              <a:rPr lang="en-US" sz="1400" dirty="0"/>
              <a:t> </a:t>
            </a:r>
          </a:p>
          <a:p>
            <a:r>
              <a:rPr lang="en-US" sz="1400" dirty="0"/>
              <a:t>Tree 5 → </a:t>
            </a:r>
            <a:r>
              <a:rPr lang="en-US" sz="1400" b="1" dirty="0"/>
              <a:t>No</a:t>
            </a:r>
            <a:r>
              <a:rPr lang="en-US" sz="1400" dirty="0"/>
              <a:t> </a:t>
            </a:r>
          </a:p>
          <a:p>
            <a:r>
              <a:rPr lang="en-US" sz="1400" dirty="0"/>
              <a:t>Since </a:t>
            </a:r>
            <a:r>
              <a:rPr lang="en-US" sz="1400" b="1" dirty="0"/>
              <a:t>3 out of 5 trees predict "Yes"</a:t>
            </a:r>
            <a:r>
              <a:rPr lang="en-US" sz="1400" dirty="0"/>
              <a:t>, the </a:t>
            </a:r>
            <a:r>
              <a:rPr lang="en-US" sz="1400" b="1" dirty="0"/>
              <a:t>Random Forest</a:t>
            </a:r>
            <a:r>
              <a:rPr lang="en-US" sz="1400" dirty="0"/>
              <a:t> predicts </a:t>
            </a:r>
            <a:r>
              <a:rPr lang="en-US" sz="1400" b="1" dirty="0"/>
              <a:t>"Yes"</a:t>
            </a:r>
            <a:r>
              <a:rPr lang="en-US" sz="1400" dirty="0"/>
              <a:t> (majority vote).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58DB661-682C-4936-B4C7-56D1DD3C0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567556"/>
              </p:ext>
            </p:extLst>
          </p:nvPr>
        </p:nvGraphicFramePr>
        <p:xfrm>
          <a:off x="243709" y="3553682"/>
          <a:ext cx="4953741" cy="1341120"/>
        </p:xfrm>
        <a:graphic>
          <a:graphicData uri="http://schemas.openxmlformats.org/drawingml/2006/table">
            <a:tbl>
              <a:tblPr/>
              <a:tblGrid>
                <a:gridCol w="1651247">
                  <a:extLst>
                    <a:ext uri="{9D8B030D-6E8A-4147-A177-3AD203B41FA5}">
                      <a16:colId xmlns:a16="http://schemas.microsoft.com/office/drawing/2014/main" val="3480198994"/>
                    </a:ext>
                  </a:extLst>
                </a:gridCol>
                <a:gridCol w="1651247">
                  <a:extLst>
                    <a:ext uri="{9D8B030D-6E8A-4147-A177-3AD203B41FA5}">
                      <a16:colId xmlns:a16="http://schemas.microsoft.com/office/drawing/2014/main" val="2717612715"/>
                    </a:ext>
                  </a:extLst>
                </a:gridCol>
                <a:gridCol w="1651247">
                  <a:extLst>
                    <a:ext uri="{9D8B030D-6E8A-4147-A177-3AD203B41FA5}">
                      <a16:colId xmlns:a16="http://schemas.microsoft.com/office/drawing/2014/main" val="1805656332"/>
                    </a:ext>
                  </a:extLst>
                </a:gridCol>
              </a:tblGrid>
              <a:tr h="263763">
                <a:tc>
                  <a:txBody>
                    <a:bodyPr/>
                    <a:lstStyle/>
                    <a:p>
                      <a:r>
                        <a:rPr lang="en-IN" sz="1600" dirty="0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Buys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884303"/>
                  </a:ext>
                </a:extLst>
              </a:tr>
              <a:tr h="263763">
                <a:tc>
                  <a:txBody>
                    <a:bodyPr/>
                    <a:lstStyle/>
                    <a:p>
                      <a:r>
                        <a:rPr lang="en-IN" sz="1600" dirty="0"/>
                        <a:t>&lt;30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796532"/>
                  </a:ext>
                </a:extLst>
              </a:tr>
              <a:tr h="263763">
                <a:tc>
                  <a:txBody>
                    <a:bodyPr/>
                    <a:lstStyle/>
                    <a:p>
                      <a:r>
                        <a:rPr lang="en-IN" sz="1600"/>
                        <a:t>&lt;30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877747"/>
                  </a:ext>
                </a:extLst>
              </a:tr>
              <a:tr h="263763">
                <a:tc>
                  <a:txBody>
                    <a:bodyPr/>
                    <a:lstStyle/>
                    <a:p>
                      <a:r>
                        <a:rPr lang="en-IN" sz="1600" dirty="0"/>
                        <a:t>&gt;30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120801"/>
                  </a:ext>
                </a:extLst>
              </a:tr>
            </a:tbl>
          </a:graphicData>
        </a:graphic>
      </p:graphicFrame>
      <p:sp>
        <p:nvSpPr>
          <p:cNvPr id="16" name="Rectangle 1">
            <a:extLst>
              <a:ext uri="{FF2B5EF4-FFF2-40B4-BE49-F238E27FC236}">
                <a16:creationId xmlns:a16="http://schemas.microsoft.com/office/drawing/2014/main" id="{CC842195-CA5A-4311-9A5D-1E223C030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51" y="3204422"/>
            <a:ext cx="495374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if a person will buy a product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A2B068-4BBA-435E-BCC9-7D29D01CB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22" y="4899003"/>
            <a:ext cx="1924319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0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9</a:t>
            </a:r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1AD34C-F6CD-48A6-B330-5C2C1421B8B5}"/>
              </a:ext>
            </a:extLst>
          </p:cNvPr>
          <p:cNvSpPr/>
          <p:nvPr/>
        </p:nvSpPr>
        <p:spPr>
          <a:xfrm>
            <a:off x="86950" y="933544"/>
            <a:ext cx="1210505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SVM (Support Vector Machine):</a:t>
            </a:r>
            <a:r>
              <a:rPr lang="en-IN" sz="2000" dirty="0"/>
              <a:t>  </a:t>
            </a:r>
            <a:r>
              <a:rPr lang="en-US" dirty="0"/>
              <a:t>SVM is a classification algorithm that finds the </a:t>
            </a:r>
            <a:r>
              <a:rPr lang="en-US" b="1" dirty="0"/>
              <a:t>best boundary (hyperplane)</a:t>
            </a:r>
            <a:r>
              <a:rPr lang="en-US" dirty="0"/>
              <a:t> to separate classes.</a:t>
            </a:r>
            <a:endParaRPr lang="en-IN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3BAC60F-E433-4434-A3E7-BA13CF7D9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120091"/>
              </p:ext>
            </p:extLst>
          </p:nvPr>
        </p:nvGraphicFramePr>
        <p:xfrm>
          <a:off x="86948" y="1624951"/>
          <a:ext cx="8133772" cy="1371600"/>
        </p:xfrm>
        <a:graphic>
          <a:graphicData uri="http://schemas.openxmlformats.org/drawingml/2006/table">
            <a:tbl>
              <a:tblPr/>
              <a:tblGrid>
                <a:gridCol w="2606294">
                  <a:extLst>
                    <a:ext uri="{9D8B030D-6E8A-4147-A177-3AD203B41FA5}">
                      <a16:colId xmlns:a16="http://schemas.microsoft.com/office/drawing/2014/main" val="2489823940"/>
                    </a:ext>
                  </a:extLst>
                </a:gridCol>
                <a:gridCol w="2763739">
                  <a:extLst>
                    <a:ext uri="{9D8B030D-6E8A-4147-A177-3AD203B41FA5}">
                      <a16:colId xmlns:a16="http://schemas.microsoft.com/office/drawing/2014/main" val="2795579840"/>
                    </a:ext>
                  </a:extLst>
                </a:gridCol>
                <a:gridCol w="2763739">
                  <a:extLst>
                    <a:ext uri="{9D8B030D-6E8A-4147-A177-3AD203B41FA5}">
                      <a16:colId xmlns:a16="http://schemas.microsoft.com/office/drawing/2014/main" val="3196895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Key 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61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Hyperplane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Decision boundary separating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Line/plane that divides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0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Gap between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SVM maximizes 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332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Support Vectors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Closest points to hyperplane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They decide boundary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6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Kernel Trick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Converts data to higher dimension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Helps non-linear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3164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91B7C4A-B3BC-4529-B4DD-9F82CC75E89F}"/>
              </a:ext>
            </a:extLst>
          </p:cNvPr>
          <p:cNvSpPr txBox="1"/>
          <p:nvPr/>
        </p:nvSpPr>
        <p:spPr>
          <a:xfrm>
            <a:off x="0" y="149804"/>
            <a:ext cx="44654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SVM &amp; K-Nearest Neighbors</a:t>
            </a:r>
          </a:p>
          <a:p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C3FBE2-864A-455A-A284-ED546383142A}"/>
              </a:ext>
            </a:extLst>
          </p:cNvPr>
          <p:cNvSpPr/>
          <p:nvPr/>
        </p:nvSpPr>
        <p:spPr>
          <a:xfrm>
            <a:off x="86948" y="3182394"/>
            <a:ext cx="1210505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KNN (K-Nearest Neighbors): </a:t>
            </a:r>
            <a:r>
              <a:rPr lang="en-US" dirty="0"/>
              <a:t>KNN is a simple algorithm that classifies data based on </a:t>
            </a:r>
            <a:r>
              <a:rPr lang="en-US" b="1" dirty="0"/>
              <a:t>nearest neighbors</a:t>
            </a:r>
            <a:r>
              <a:rPr lang="en-US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Distance Metrics in KNN: </a:t>
            </a:r>
            <a:r>
              <a:rPr lang="en-US" dirty="0"/>
              <a:t>KNN determines which neighbors are "nearest" by calculating the </a:t>
            </a:r>
            <a:r>
              <a:rPr lang="en-US" b="1" dirty="0"/>
              <a:t>distance</a:t>
            </a:r>
            <a:r>
              <a:rPr lang="en-US" dirty="0"/>
              <a:t> between data points.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Choosing the Value of K in KNN: </a:t>
            </a:r>
            <a:r>
              <a:rPr lang="en-US" dirty="0"/>
              <a:t>The </a:t>
            </a:r>
            <a:r>
              <a:rPr lang="en-US" b="1" dirty="0"/>
              <a:t>value of K</a:t>
            </a:r>
            <a:r>
              <a:rPr lang="en-US" dirty="0"/>
              <a:t> in </a:t>
            </a:r>
            <a:r>
              <a:rPr lang="en-US" b="1" dirty="0"/>
              <a:t>K-Nearest Neighbors (KNN)</a:t>
            </a:r>
            <a:r>
              <a:rPr lang="en-US" dirty="0"/>
              <a:t> is the </a:t>
            </a:r>
            <a:r>
              <a:rPr lang="en-US" b="1" dirty="0"/>
              <a:t>number of nearest neighbors</a:t>
            </a:r>
            <a:r>
              <a:rPr lang="en-US" dirty="0"/>
              <a:t> used to predict the class or value of a new data point. Choosing the right K is important because it directly affects the model's accuracy.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5A888E-4DB7-4417-BFD4-54F8F7A7C03E}"/>
              </a:ext>
            </a:extLst>
          </p:cNvPr>
          <p:cNvSpPr/>
          <p:nvPr/>
        </p:nvSpPr>
        <p:spPr>
          <a:xfrm>
            <a:off x="86948" y="5054043"/>
            <a:ext cx="1210505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Cross Validation (ML):</a:t>
            </a:r>
            <a:r>
              <a:rPr lang="en-US" b="1" dirty="0"/>
              <a:t>Cross-validation</a:t>
            </a:r>
            <a:r>
              <a:rPr lang="en-US" dirty="0"/>
              <a:t> is a technique used to </a:t>
            </a:r>
            <a:r>
              <a:rPr lang="en-US" b="1" dirty="0"/>
              <a:t>evaluate a machine learning model more reliably</a:t>
            </a:r>
            <a:r>
              <a:rPr lang="en-US" dirty="0"/>
              <a:t> by testing it on multiple train–validation splits instead of just one.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K-Fold Cross Validation: </a:t>
            </a:r>
            <a:r>
              <a:rPr lang="en-US" b="1" dirty="0"/>
              <a:t>K-Fold Cross Validation</a:t>
            </a:r>
            <a:r>
              <a:rPr lang="en-US" dirty="0"/>
              <a:t> is a model evaluation technique used in machine learning to </a:t>
            </a:r>
            <a:r>
              <a:rPr lang="en-US" b="1" dirty="0"/>
              <a:t>test a model multiple times on different splits of the data</a:t>
            </a:r>
            <a:r>
              <a:rPr lang="en-US" dirty="0"/>
              <a:t> and get a more reliable performance score.</a:t>
            </a:r>
          </a:p>
        </p:txBody>
      </p:sp>
    </p:spTree>
    <p:extLst>
      <p:ext uri="{BB962C8B-B14F-4D97-AF65-F5344CB8AC3E}">
        <p14:creationId xmlns:p14="http://schemas.microsoft.com/office/powerpoint/2010/main" val="369109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10</a:t>
            </a:r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779227-0E7E-4810-AA1A-409C2238E9C7}"/>
              </a:ext>
            </a:extLst>
          </p:cNvPr>
          <p:cNvSpPr/>
          <p:nvPr/>
        </p:nvSpPr>
        <p:spPr>
          <a:xfrm>
            <a:off x="0" y="225959"/>
            <a:ext cx="592899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Clustering &amp; Dimensionality Reduction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F2BBA33-3EB9-4690-A8CC-E9BE29954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88263"/>
              </p:ext>
            </p:extLst>
          </p:nvPr>
        </p:nvGraphicFramePr>
        <p:xfrm>
          <a:off x="72927" y="1853771"/>
          <a:ext cx="4923408" cy="2377440"/>
        </p:xfrm>
        <a:graphic>
          <a:graphicData uri="http://schemas.openxmlformats.org/drawingml/2006/table">
            <a:tbl>
              <a:tblPr/>
              <a:tblGrid>
                <a:gridCol w="1641136">
                  <a:extLst>
                    <a:ext uri="{9D8B030D-6E8A-4147-A177-3AD203B41FA5}">
                      <a16:colId xmlns:a16="http://schemas.microsoft.com/office/drawing/2014/main" val="4243934405"/>
                    </a:ext>
                  </a:extLst>
                </a:gridCol>
                <a:gridCol w="1641136">
                  <a:extLst>
                    <a:ext uri="{9D8B030D-6E8A-4147-A177-3AD203B41FA5}">
                      <a16:colId xmlns:a16="http://schemas.microsoft.com/office/drawing/2014/main" val="2212141427"/>
                    </a:ext>
                  </a:extLst>
                </a:gridCol>
                <a:gridCol w="1641136">
                  <a:extLst>
                    <a:ext uri="{9D8B030D-6E8A-4147-A177-3AD203B41FA5}">
                      <a16:colId xmlns:a16="http://schemas.microsoft.com/office/drawing/2014/main" val="2495059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Key 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90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Clustering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Grouping similar data points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Unsupervised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03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Centroids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Center point of a 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Mean of all points in 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746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Inertia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Sum of squared distances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Measures cluster compactness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3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Elbow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Technique to choose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 “elbow point” in 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049842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1ADBC6C-9614-4E81-A8A9-6597DC5E52C9}"/>
              </a:ext>
            </a:extLst>
          </p:cNvPr>
          <p:cNvSpPr/>
          <p:nvPr/>
        </p:nvSpPr>
        <p:spPr>
          <a:xfrm>
            <a:off x="0" y="933544"/>
            <a:ext cx="50692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K-Means Clustering: </a:t>
            </a:r>
            <a:r>
              <a:rPr lang="en-US" b="1" dirty="0"/>
              <a:t>K-Means Clustering</a:t>
            </a:r>
            <a:r>
              <a:rPr lang="en-US" dirty="0"/>
              <a:t> is an </a:t>
            </a:r>
            <a:r>
              <a:rPr lang="en-US" b="1" dirty="0"/>
              <a:t>unsupervised learning algorithm</a:t>
            </a:r>
            <a:r>
              <a:rPr lang="en-US" dirty="0"/>
              <a:t> that groups similar data points into </a:t>
            </a:r>
            <a:r>
              <a:rPr lang="en-US" b="1" dirty="0"/>
              <a:t>K clusters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3FB488-EC42-40CA-92DB-EE8F27D5AD88}"/>
              </a:ext>
            </a:extLst>
          </p:cNvPr>
          <p:cNvSpPr/>
          <p:nvPr/>
        </p:nvSpPr>
        <p:spPr>
          <a:xfrm>
            <a:off x="72927" y="4510676"/>
            <a:ext cx="5069262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b="1" dirty="0"/>
              <a:t>DBSCAN:</a:t>
            </a:r>
          </a:p>
          <a:p>
            <a:r>
              <a:rPr lang="en-US" sz="1600" b="1" dirty="0"/>
              <a:t>DBSCAN (Density-Based Spatial Clustering of Applications with Noise)</a:t>
            </a:r>
            <a:r>
              <a:rPr lang="en-US" sz="1600" dirty="0"/>
              <a:t> is an </a:t>
            </a:r>
            <a:r>
              <a:rPr lang="en-US" sz="1600" b="1" dirty="0"/>
              <a:t>unsupervised clustering algorithm</a:t>
            </a:r>
            <a:r>
              <a:rPr lang="en-US" sz="1600" dirty="0"/>
              <a:t> that groups data based on </a:t>
            </a:r>
            <a:r>
              <a:rPr lang="en-US" sz="1600" b="1" dirty="0"/>
              <a:t>density (how closely points are packed together)</a:t>
            </a:r>
            <a:endParaRPr lang="en-IN" sz="1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95483-3583-4213-92CF-11138D8B4ED7}"/>
              </a:ext>
            </a:extLst>
          </p:cNvPr>
          <p:cNvSpPr/>
          <p:nvPr/>
        </p:nvSpPr>
        <p:spPr>
          <a:xfrm>
            <a:off x="5746649" y="1055858"/>
            <a:ext cx="6096000" cy="17851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-US" sz="2000" b="1" dirty="0"/>
              <a:t>Principal Component Analysis (PCA):</a:t>
            </a:r>
          </a:p>
          <a:p>
            <a:r>
              <a:rPr lang="en-US" b="1" dirty="0"/>
              <a:t>Principal Component Analysis (PCA)</a:t>
            </a:r>
            <a:r>
              <a:rPr lang="en-US" dirty="0"/>
              <a:t> is an </a:t>
            </a:r>
            <a:r>
              <a:rPr lang="en-US" b="1" dirty="0"/>
              <a:t>unsupervised machine learning technique</a:t>
            </a:r>
            <a:r>
              <a:rPr lang="en-US" dirty="0"/>
              <a:t> used for </a:t>
            </a:r>
            <a:r>
              <a:rPr lang="en-US" b="1" dirty="0"/>
              <a:t>dimensionality reduction</a:t>
            </a:r>
            <a:r>
              <a:rPr lang="en-US" dirty="0"/>
              <a:t>. It reduces the number of features in a dataset while preserving as much important information (variance) as possible.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7A7502-F43E-4C81-9637-CEB602A8C5EE}"/>
              </a:ext>
            </a:extLst>
          </p:cNvPr>
          <p:cNvSpPr/>
          <p:nvPr/>
        </p:nvSpPr>
        <p:spPr>
          <a:xfrm>
            <a:off x="5560865" y="3667974"/>
            <a:ext cx="6281784" cy="21852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Model Evaluation : </a:t>
            </a:r>
            <a:r>
              <a:rPr lang="en-US" sz="2000" dirty="0"/>
              <a:t>Model evaluation is the process of </a:t>
            </a:r>
            <a:r>
              <a:rPr lang="en-US" sz="2000" b="1" dirty="0"/>
              <a:t>measuring how well a trained model performs</a:t>
            </a:r>
            <a:r>
              <a:rPr lang="en-US" sz="2000" dirty="0"/>
              <a:t> on unseen(test)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Hyperparameter Tuning: </a:t>
            </a:r>
            <a:r>
              <a:rPr lang="en-US" dirty="0"/>
              <a:t>Hyperparameter tuning is the process of </a:t>
            </a:r>
            <a:r>
              <a:rPr lang="en-US" b="1" dirty="0"/>
              <a:t>finding the best settings (hyperparameters) for a model</a:t>
            </a:r>
            <a:r>
              <a:rPr lang="en-US" dirty="0"/>
              <a:t> to improve performance</a:t>
            </a:r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496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11</a:t>
            </a:r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1A21D8-33D6-4C7F-A376-E6C9497F3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007638"/>
              </p:ext>
            </p:extLst>
          </p:nvPr>
        </p:nvGraphicFramePr>
        <p:xfrm>
          <a:off x="106532" y="940125"/>
          <a:ext cx="11796169" cy="2943257"/>
        </p:xfrm>
        <a:graphic>
          <a:graphicData uri="http://schemas.openxmlformats.org/drawingml/2006/table">
            <a:tbl>
              <a:tblPr/>
              <a:tblGrid>
                <a:gridCol w="1685167">
                  <a:extLst>
                    <a:ext uri="{9D8B030D-6E8A-4147-A177-3AD203B41FA5}">
                      <a16:colId xmlns:a16="http://schemas.microsoft.com/office/drawing/2014/main" val="3359634741"/>
                    </a:ext>
                  </a:extLst>
                </a:gridCol>
                <a:gridCol w="1685167">
                  <a:extLst>
                    <a:ext uri="{9D8B030D-6E8A-4147-A177-3AD203B41FA5}">
                      <a16:colId xmlns:a16="http://schemas.microsoft.com/office/drawing/2014/main" val="1146950659"/>
                    </a:ext>
                  </a:extLst>
                </a:gridCol>
                <a:gridCol w="1685167">
                  <a:extLst>
                    <a:ext uri="{9D8B030D-6E8A-4147-A177-3AD203B41FA5}">
                      <a16:colId xmlns:a16="http://schemas.microsoft.com/office/drawing/2014/main" val="1005358869"/>
                    </a:ext>
                  </a:extLst>
                </a:gridCol>
                <a:gridCol w="1685167">
                  <a:extLst>
                    <a:ext uri="{9D8B030D-6E8A-4147-A177-3AD203B41FA5}">
                      <a16:colId xmlns:a16="http://schemas.microsoft.com/office/drawing/2014/main" val="158263154"/>
                    </a:ext>
                  </a:extLst>
                </a:gridCol>
                <a:gridCol w="1685167">
                  <a:extLst>
                    <a:ext uri="{9D8B030D-6E8A-4147-A177-3AD203B41FA5}">
                      <a16:colId xmlns:a16="http://schemas.microsoft.com/office/drawing/2014/main" val="1362401200"/>
                    </a:ext>
                  </a:extLst>
                </a:gridCol>
                <a:gridCol w="1685167">
                  <a:extLst>
                    <a:ext uri="{9D8B030D-6E8A-4147-A177-3AD203B41FA5}">
                      <a16:colId xmlns:a16="http://schemas.microsoft.com/office/drawing/2014/main" val="3849225205"/>
                    </a:ext>
                  </a:extLst>
                </a:gridCol>
                <a:gridCol w="1685167">
                  <a:extLst>
                    <a:ext uri="{9D8B030D-6E8A-4147-A177-3AD203B41FA5}">
                      <a16:colId xmlns:a16="http://schemas.microsoft.com/office/drawing/2014/main" val="48456810"/>
                    </a:ext>
                  </a:extLst>
                </a:gridCol>
              </a:tblGrid>
              <a:tr h="191969">
                <a:tc>
                  <a:txBody>
                    <a:bodyPr/>
                    <a:lstStyle/>
                    <a:p>
                      <a:r>
                        <a:rPr lang="en-IN" sz="1100" b="1"/>
                        <a:t>Metric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Definition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Formula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Range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Higher Value Means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Best Used When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Example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97842"/>
                  </a:ext>
                </a:extLst>
              </a:tr>
              <a:tr h="356514">
                <a:tc>
                  <a:txBody>
                    <a:bodyPr/>
                    <a:lstStyle/>
                    <a:p>
                      <a:r>
                        <a:rPr lang="en-IN" sz="1100" b="1"/>
                        <a:t>Accuracy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Percentage of correctly classified instances.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(TP + TN) / (TP + TN + FP + FN)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0–1 (or 0–100%)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Better overall prediction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Dataset is balanced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Predicting pass/fail students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485574"/>
                  </a:ext>
                </a:extLst>
              </a:tr>
              <a:tr h="603332">
                <a:tc>
                  <a:txBody>
                    <a:bodyPr/>
                    <a:lstStyle/>
                    <a:p>
                      <a:r>
                        <a:rPr lang="en-IN" sz="1100" b="1"/>
                        <a:t>Precision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Out of all predicted positive cases, how many are actually positive?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TP / (TP + FP)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0–1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Fewer false positives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Spam detection, fraud detection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Of all emails marked as spam, how many are actually spam?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846758"/>
                  </a:ext>
                </a:extLst>
              </a:tr>
              <a:tr h="603332">
                <a:tc>
                  <a:txBody>
                    <a:bodyPr/>
                    <a:lstStyle/>
                    <a:p>
                      <a:r>
                        <a:rPr lang="en-IN" sz="1100" b="1"/>
                        <a:t>Recall (Sensitivity)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Out of all actual positive cases, how many are correctly identified?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TP / (TP + FN)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0–1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Fewer false negatives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Disease diagnosis, cancer detection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Of all cancer patients, how many are detected?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546597"/>
                  </a:ext>
                </a:extLst>
              </a:tr>
              <a:tr h="438787">
                <a:tc>
                  <a:txBody>
                    <a:bodyPr/>
                    <a:lstStyle/>
                    <a:p>
                      <a:r>
                        <a:rPr lang="en-IN" sz="1100" b="1"/>
                        <a:t>F1-Score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Harmonic mean of Precision and Recall.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2 × (Precision × Recall) / (Precision + Recall)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0–1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Better balance between Precision and Recall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Imbalanced datasets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Fraud detection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549237"/>
                  </a:ext>
                </a:extLst>
              </a:tr>
              <a:tr h="685605">
                <a:tc>
                  <a:txBody>
                    <a:bodyPr/>
                    <a:lstStyle/>
                    <a:p>
                      <a:r>
                        <a:rPr lang="en-IN" sz="1100" b="1"/>
                        <a:t>ROC-AUC</a:t>
                      </a:r>
                      <a:endParaRPr lang="en-IN" sz="110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Measures how well the model distinguishes between positive and negative classes.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Area under the ROC Curve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0.5–1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Better class separation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Binary classification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Disease prediction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3042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4088C60-704E-4D7F-B7C4-322E4C66361E}"/>
              </a:ext>
            </a:extLst>
          </p:cNvPr>
          <p:cNvSpPr txBox="1"/>
          <p:nvPr/>
        </p:nvSpPr>
        <p:spPr>
          <a:xfrm>
            <a:off x="8878" y="315987"/>
            <a:ext cx="5841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Metric (Classification Model):</a:t>
            </a:r>
            <a:endParaRPr lang="en-IN" sz="28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000CF1-E8BB-45EA-9E06-6F2CEF860953}"/>
              </a:ext>
            </a:extLst>
          </p:cNvPr>
          <p:cNvSpPr/>
          <p:nvPr/>
        </p:nvSpPr>
        <p:spPr>
          <a:xfrm>
            <a:off x="168682" y="4147109"/>
            <a:ext cx="43145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GridSearchCV: </a:t>
            </a:r>
            <a:r>
              <a:rPr lang="en-US" dirty="0"/>
              <a:t>GridSearchCV is a </a:t>
            </a:r>
            <a:r>
              <a:rPr lang="en-US" b="1" dirty="0"/>
              <a:t>hyperparameter tuning technique</a:t>
            </a:r>
            <a:r>
              <a:rPr lang="en-US" dirty="0"/>
              <a:t> that tests </a:t>
            </a:r>
            <a:r>
              <a:rPr lang="en-US" b="1" dirty="0"/>
              <a:t>every possible combination</a:t>
            </a:r>
            <a:r>
              <a:rPr lang="en-US" dirty="0"/>
              <a:t> of specified parameter values.0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7944B1-FA6A-40B0-97FA-8AFA956A419C}"/>
              </a:ext>
            </a:extLst>
          </p:cNvPr>
          <p:cNvSpPr/>
          <p:nvPr/>
        </p:nvSpPr>
        <p:spPr>
          <a:xfrm>
            <a:off x="5835938" y="4147108"/>
            <a:ext cx="4941551" cy="1231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RandomizedSearchCV: </a:t>
            </a:r>
            <a:r>
              <a:rPr lang="en-US" dirty="0"/>
              <a:t>RandomizedSearchCV randomly selects a </a:t>
            </a:r>
            <a:r>
              <a:rPr lang="en-US" b="1" dirty="0"/>
              <a:t>fixed number of parameter combinations</a:t>
            </a:r>
            <a:r>
              <a:rPr lang="en-US" dirty="0"/>
              <a:t> instead of testing all possible combinations.</a:t>
            </a:r>
          </a:p>
        </p:txBody>
      </p:sp>
    </p:spTree>
    <p:extLst>
      <p:ext uri="{BB962C8B-B14F-4D97-AF65-F5344CB8AC3E}">
        <p14:creationId xmlns:p14="http://schemas.microsoft.com/office/powerpoint/2010/main" val="420079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12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53C6C-71D4-4039-8879-4B5C4E03EBB1}"/>
              </a:ext>
            </a:extLst>
          </p:cNvPr>
          <p:cNvSpPr/>
          <p:nvPr/>
        </p:nvSpPr>
        <p:spPr>
          <a:xfrm>
            <a:off x="426720" y="365844"/>
            <a:ext cx="33598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Bias vs Variance Tradeoff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2FA30B-C6E6-4A4C-ABE2-84E442E64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806583"/>
              </p:ext>
            </p:extLst>
          </p:nvPr>
        </p:nvGraphicFramePr>
        <p:xfrm>
          <a:off x="292963" y="1003608"/>
          <a:ext cx="10519299" cy="2194560"/>
        </p:xfrm>
        <a:graphic>
          <a:graphicData uri="http://schemas.openxmlformats.org/drawingml/2006/table">
            <a:tbl>
              <a:tblPr/>
              <a:tblGrid>
                <a:gridCol w="3508899">
                  <a:extLst>
                    <a:ext uri="{9D8B030D-6E8A-4147-A177-3AD203B41FA5}">
                      <a16:colId xmlns:a16="http://schemas.microsoft.com/office/drawing/2014/main" val="17183210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0996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89565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3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Too simple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Too complex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Underfitting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Overfitting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627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Training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384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Test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(unstable)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57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Sensitivity to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88768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80B437E-48FE-41C8-AA32-15E2E71845F6}"/>
              </a:ext>
            </a:extLst>
          </p:cNvPr>
          <p:cNvSpPr/>
          <p:nvPr/>
        </p:nvSpPr>
        <p:spPr>
          <a:xfrm>
            <a:off x="426720" y="354606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Bias-Variance Tradeoff</a:t>
            </a:r>
          </a:p>
          <a:p>
            <a:r>
              <a:rPr lang="en-US" dirty="0"/>
              <a:t>In real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Reducing bias often increases variance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Reducing variance often increases bias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Goal:</a:t>
            </a:r>
          </a:p>
          <a:p>
            <a:r>
              <a:rPr lang="en-US" dirty="0"/>
              <a:t>Find a </a:t>
            </a:r>
            <a:r>
              <a:rPr lang="en-US" b="1" dirty="0"/>
              <a:t>balanced model</a:t>
            </a:r>
            <a:r>
              <a:rPr lang="en-US" dirty="0"/>
              <a:t>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bias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variance</a:t>
            </a:r>
          </a:p>
        </p:txBody>
      </p:sp>
    </p:spTree>
    <p:extLst>
      <p:ext uri="{BB962C8B-B14F-4D97-AF65-F5344CB8AC3E}">
        <p14:creationId xmlns:p14="http://schemas.microsoft.com/office/powerpoint/2010/main" val="493892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13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5B2C4B-3A55-4D54-ABCA-1BC4EB8CFBEE}"/>
              </a:ext>
            </a:extLst>
          </p:cNvPr>
          <p:cNvSpPr/>
          <p:nvPr/>
        </p:nvSpPr>
        <p:spPr>
          <a:xfrm>
            <a:off x="119108" y="382323"/>
            <a:ext cx="4330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Feature Engineering &amp; Pipelines: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05D07B-2009-4A8B-BD63-F01CDCD25A05}"/>
              </a:ext>
            </a:extLst>
          </p:cNvPr>
          <p:cNvSpPr/>
          <p:nvPr/>
        </p:nvSpPr>
        <p:spPr>
          <a:xfrm>
            <a:off x="119108" y="3809469"/>
            <a:ext cx="121736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1. Feature Selection</a:t>
            </a:r>
          </a:p>
          <a:p>
            <a:r>
              <a:rPr lang="en-US" dirty="0"/>
              <a:t>Feature selection means </a:t>
            </a:r>
            <a:r>
              <a:rPr lang="en-US" b="1" dirty="0"/>
              <a:t>choosing the most useful features and removing irrelevant ones</a:t>
            </a:r>
            <a:r>
              <a:rPr lang="en-US" dirty="0"/>
              <a:t> to improve model performance and reduce overfitting.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2. Creating New Features</a:t>
            </a:r>
          </a:p>
          <a:p>
            <a:r>
              <a:rPr lang="en-US" dirty="0"/>
              <a:t>Feature creation helps models learn </a:t>
            </a:r>
            <a:r>
              <a:rPr lang="en-US" b="1" dirty="0"/>
              <a:t>hidden patterns better than raw data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3. Sklearn Pipeline</a:t>
            </a:r>
          </a:p>
          <a:p>
            <a:r>
              <a:rPr lang="en-US" dirty="0"/>
              <a:t>A Pipeline chains all ML steps into a </a:t>
            </a:r>
            <a:r>
              <a:rPr lang="en-US" b="1" dirty="0"/>
              <a:t>single workflow</a:t>
            </a:r>
            <a:r>
              <a:rPr lang="en-US" dirty="0"/>
              <a:t>.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4. ColumnTransformer (Mixed Data Types): </a:t>
            </a:r>
            <a:r>
              <a:rPr lang="en-US" dirty="0"/>
              <a:t>Applies </a:t>
            </a:r>
            <a:r>
              <a:rPr lang="en-US" b="1" dirty="0"/>
              <a:t>different transformations to different columns.</a:t>
            </a:r>
            <a:endParaRPr lang="en-US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0DF6E202-F9B9-422E-A392-23950DB36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08" y="1126480"/>
            <a:ext cx="1207289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process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creating, transforming, or selecting features (inputs)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raw data to improve machine learning model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features = better model accuracy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19EA1331-9C91-4546-BDBE-05543D1D9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35" y="2486909"/>
            <a:ext cx="1211963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Pipelines in Machine Learning: </a:t>
            </a:r>
            <a:r>
              <a:rPr lang="en-US" altLang="en-US" dirty="0">
                <a:latin typeface="Arial" panose="020B0604020202020204" pitchFamily="34" charset="0"/>
              </a:rPr>
              <a:t>A </a:t>
            </a:r>
            <a:r>
              <a:rPr lang="en-US" altLang="en-US" b="1" dirty="0">
                <a:latin typeface="Arial" panose="020B0604020202020204" pitchFamily="34" charset="0"/>
              </a:rPr>
              <a:t>Pipeline</a:t>
            </a:r>
            <a:r>
              <a:rPr lang="en-US" altLang="en-US" dirty="0">
                <a:latin typeface="Arial" panose="020B0604020202020204" pitchFamily="34" charset="0"/>
              </a:rPr>
              <a:t> is a way to </a:t>
            </a:r>
            <a:r>
              <a:rPr lang="en-US" altLang="en-US" b="1" dirty="0">
                <a:latin typeface="Arial" panose="020B0604020202020204" pitchFamily="34" charset="0"/>
              </a:rPr>
              <a:t>automate and chain all steps of machine learning</a:t>
            </a:r>
            <a:r>
              <a:rPr lang="en-US" altLang="en-US" dirty="0">
                <a:latin typeface="Arial" panose="020B0604020202020204" pitchFamily="34" charset="0"/>
              </a:rPr>
              <a:t> into one workflow.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Instead of doing steps manually, pipeline runs everything in sequence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229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14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F2959-02E4-4EAC-BCCD-F01D2F641CD7}"/>
              </a:ext>
            </a:extLst>
          </p:cNvPr>
          <p:cNvSpPr/>
          <p:nvPr/>
        </p:nvSpPr>
        <p:spPr>
          <a:xfrm>
            <a:off x="585000" y="365844"/>
            <a:ext cx="26804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Introduction to NLP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B6D6E2-F2C7-409B-A16F-9ABF11EEA137}"/>
              </a:ext>
            </a:extLst>
          </p:cNvPr>
          <p:cNvSpPr/>
          <p:nvPr/>
        </p:nvSpPr>
        <p:spPr>
          <a:xfrm>
            <a:off x="109491" y="99855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1. Text Preprocessing</a:t>
            </a:r>
          </a:p>
          <a:p>
            <a:r>
              <a:rPr lang="en-US" dirty="0"/>
              <a:t>Before using text in ML models, we clean and standardize it.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223825-3447-40BD-B2B6-F641D0967410}"/>
              </a:ext>
            </a:extLst>
          </p:cNvPr>
          <p:cNvSpPr/>
          <p:nvPr/>
        </p:nvSpPr>
        <p:spPr>
          <a:xfrm>
            <a:off x="109491" y="1585409"/>
            <a:ext cx="515496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a) Tokenization: </a:t>
            </a:r>
            <a:r>
              <a:rPr lang="en-US" dirty="0"/>
              <a:t>Splitting text into </a:t>
            </a:r>
            <a:r>
              <a:rPr lang="en-US" b="1" dirty="0"/>
              <a:t>smaller units (tokens)</a:t>
            </a:r>
            <a:r>
              <a:rPr lang="en-US" dirty="0"/>
              <a:t> like words or sentences.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A1894-8201-4798-A3E9-D3861141ED11}"/>
              </a:ext>
            </a:extLst>
          </p:cNvPr>
          <p:cNvSpPr/>
          <p:nvPr/>
        </p:nvSpPr>
        <p:spPr>
          <a:xfrm>
            <a:off x="5597962" y="1608455"/>
            <a:ext cx="555978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b) Stopwords Removal: </a:t>
            </a:r>
            <a:r>
              <a:rPr lang="en-US" dirty="0"/>
              <a:t>Removing common words that don’t add much meaning.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494751-7D7A-4B7E-94BF-A2C792D9D33F}"/>
              </a:ext>
            </a:extLst>
          </p:cNvPr>
          <p:cNvSpPr/>
          <p:nvPr/>
        </p:nvSpPr>
        <p:spPr>
          <a:xfrm>
            <a:off x="109491" y="2897067"/>
            <a:ext cx="455128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c) Stemming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Reducing words to their </a:t>
            </a:r>
            <a:r>
              <a:rPr lang="en-US" b="1" dirty="0"/>
              <a:t>root form (rough cut)</a:t>
            </a:r>
            <a:r>
              <a:rPr lang="en-US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16738E-1EE0-4FDB-840C-23B552FC8C82}"/>
              </a:ext>
            </a:extLst>
          </p:cNvPr>
          <p:cNvSpPr/>
          <p:nvPr/>
        </p:nvSpPr>
        <p:spPr>
          <a:xfrm>
            <a:off x="109491" y="39801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Bag of Words (BoW) &amp; TF-IDF</a:t>
            </a:r>
          </a:p>
          <a:p>
            <a:r>
              <a:rPr lang="en-US" dirty="0"/>
              <a:t>These convert text into </a:t>
            </a:r>
            <a:r>
              <a:rPr lang="en-US" b="1" dirty="0"/>
              <a:t>numerical vectors</a:t>
            </a:r>
            <a:r>
              <a:rPr lang="en-US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2CDD43-51C7-43C9-8998-880144714689}"/>
              </a:ext>
            </a:extLst>
          </p:cNvPr>
          <p:cNvSpPr/>
          <p:nvPr/>
        </p:nvSpPr>
        <p:spPr>
          <a:xfrm>
            <a:off x="109491" y="462335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TF-IDF (Term Frequency - Inverse Document Frequency)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Gives </a:t>
            </a:r>
            <a:r>
              <a:rPr lang="en-US" b="1" dirty="0"/>
              <a:t>higher weight to important words</a:t>
            </a:r>
            <a:r>
              <a:rPr lang="en-US" dirty="0"/>
              <a:t>, lower to common words.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CA594E-026E-4BC9-8FCC-09F948D30F85}"/>
              </a:ext>
            </a:extLst>
          </p:cNvPr>
          <p:cNvSpPr/>
          <p:nvPr/>
        </p:nvSpPr>
        <p:spPr>
          <a:xfrm>
            <a:off x="7121371" y="3855806"/>
            <a:ext cx="4045258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Sentiment Analysis Basics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Determining </a:t>
            </a:r>
            <a:r>
              <a:rPr lang="en-US" b="1" dirty="0"/>
              <a:t>emotion or opinion</a:t>
            </a:r>
            <a:r>
              <a:rPr lang="en-US" dirty="0"/>
              <a:t> in text: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Positive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😊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Negative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😡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Neutral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😐</a:t>
            </a:r>
          </a:p>
        </p:txBody>
      </p:sp>
    </p:spTree>
    <p:extLst>
      <p:ext uri="{BB962C8B-B14F-4D97-AF65-F5344CB8AC3E}">
        <p14:creationId xmlns:p14="http://schemas.microsoft.com/office/powerpoint/2010/main" val="4284731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 15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D21763-4749-4DEF-AF43-1CBB07AAA0FB}"/>
              </a:ext>
            </a:extLst>
          </p:cNvPr>
          <p:cNvSpPr/>
          <p:nvPr/>
        </p:nvSpPr>
        <p:spPr>
          <a:xfrm>
            <a:off x="426720" y="329781"/>
            <a:ext cx="37209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Machine Learning Capstone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210003-DC44-4B6A-8D63-003C5A2AC8FE}"/>
              </a:ext>
            </a:extLst>
          </p:cNvPr>
          <p:cNvSpPr/>
          <p:nvPr/>
        </p:nvSpPr>
        <p:spPr>
          <a:xfrm>
            <a:off x="162757" y="93354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1. Problem Definition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Clearly define </a:t>
            </a:r>
            <a:r>
              <a:rPr lang="en-US" b="1" dirty="0"/>
              <a:t>what you are trying to solve</a:t>
            </a:r>
            <a:r>
              <a:rPr lang="en-US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B11934-ACE5-454F-AED7-F3ABA51E755F}"/>
              </a:ext>
            </a:extLst>
          </p:cNvPr>
          <p:cNvSpPr/>
          <p:nvPr/>
        </p:nvSpPr>
        <p:spPr>
          <a:xfrm>
            <a:off x="162757" y="1836322"/>
            <a:ext cx="34504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2. Dataset Selection</a:t>
            </a:r>
          </a:p>
          <a:p>
            <a:r>
              <a:rPr lang="en-US" b="1" dirty="0"/>
              <a:t>Sources: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Kaggle datasets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UCI Machine Learning Repository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Company/internal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76ED8-6421-44AE-9773-E38DE688FDB2}"/>
              </a:ext>
            </a:extLst>
          </p:cNvPr>
          <p:cNvSpPr/>
          <p:nvPr/>
        </p:nvSpPr>
        <p:spPr>
          <a:xfrm>
            <a:off x="162757" y="3512679"/>
            <a:ext cx="1931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3. Full ML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F95059-DA4B-4A45-AC92-3045A5470ED9}"/>
              </a:ext>
            </a:extLst>
          </p:cNvPr>
          <p:cNvSpPr/>
          <p:nvPr/>
        </p:nvSpPr>
        <p:spPr>
          <a:xfrm>
            <a:off x="224901" y="3781715"/>
            <a:ext cx="43559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Step A:</a:t>
            </a:r>
            <a:r>
              <a:rPr lang="en-IN" dirty="0"/>
              <a:t> </a:t>
            </a:r>
            <a:r>
              <a:rPr lang="en-US" b="1" dirty="0"/>
              <a:t>EDA (Exploratory Data Analysis)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Understanding the dataset before modeling.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D77CEE-1D0F-4288-881A-FD347EDEABA7}"/>
              </a:ext>
            </a:extLst>
          </p:cNvPr>
          <p:cNvSpPr/>
          <p:nvPr/>
        </p:nvSpPr>
        <p:spPr>
          <a:xfrm>
            <a:off x="224901" y="4614486"/>
            <a:ext cx="38588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B: </a:t>
            </a:r>
            <a:r>
              <a:rPr lang="en-US" b="1" dirty="0"/>
              <a:t>Data Preprocessing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Clean and prepare data for ML models.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C1591D-131E-48D2-9250-757658AAAAB9}"/>
              </a:ext>
            </a:extLst>
          </p:cNvPr>
          <p:cNvSpPr/>
          <p:nvPr/>
        </p:nvSpPr>
        <p:spPr>
          <a:xfrm>
            <a:off x="224901" y="5447257"/>
            <a:ext cx="48886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C:</a:t>
            </a:r>
            <a:r>
              <a:rPr lang="en-US" b="1" dirty="0"/>
              <a:t> Modelling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Train machine learning models on processed data.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32B9D5-EC1E-4A13-90B7-6DDC2F0E8B03}"/>
              </a:ext>
            </a:extLst>
          </p:cNvPr>
          <p:cNvSpPr/>
          <p:nvPr/>
        </p:nvSpPr>
        <p:spPr>
          <a:xfrm>
            <a:off x="5744741" y="5462791"/>
            <a:ext cx="39831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D:</a:t>
            </a:r>
            <a:r>
              <a:rPr lang="en-US" b="1" dirty="0"/>
              <a:t> Evaluation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Measure how well the model performs.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3AFDD1-76EC-4CF1-B67C-AC85616C5B7B}"/>
              </a:ext>
            </a:extLst>
          </p:cNvPr>
          <p:cNvSpPr/>
          <p:nvPr/>
        </p:nvSpPr>
        <p:spPr>
          <a:xfrm>
            <a:off x="6968971" y="1736229"/>
            <a:ext cx="3983115" cy="33855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1. Problem Definition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2. Dataset Collection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3. EDA (Understand data)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4. Preprocessing (clean + encode + scale)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5. Model Training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6. Evaluation (metrics)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7. Visualization + Insights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3AE42F-CA4D-4E6B-BF1B-B02F07076DE6}"/>
              </a:ext>
            </a:extLst>
          </p:cNvPr>
          <p:cNvSpPr/>
          <p:nvPr/>
        </p:nvSpPr>
        <p:spPr>
          <a:xfrm>
            <a:off x="6899870" y="1327193"/>
            <a:ext cx="2580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End-to-End Workflow </a:t>
            </a:r>
          </a:p>
        </p:txBody>
      </p:sp>
    </p:spTree>
    <p:extLst>
      <p:ext uri="{BB962C8B-B14F-4D97-AF65-F5344CB8AC3E}">
        <p14:creationId xmlns:p14="http://schemas.microsoft.com/office/powerpoint/2010/main" val="1500494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   16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D85B04B-240B-42B6-BD90-51342F424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391877"/>
              </p:ext>
            </p:extLst>
          </p:nvPr>
        </p:nvGraphicFramePr>
        <p:xfrm>
          <a:off x="426720" y="1093578"/>
          <a:ext cx="5933334" cy="438491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61874">
                  <a:extLst>
                    <a:ext uri="{9D8B030D-6E8A-4147-A177-3AD203B41FA5}">
                      <a16:colId xmlns:a16="http://schemas.microsoft.com/office/drawing/2014/main" val="4159478295"/>
                    </a:ext>
                  </a:extLst>
                </a:gridCol>
                <a:gridCol w="1985730">
                  <a:extLst>
                    <a:ext uri="{9D8B030D-6E8A-4147-A177-3AD203B41FA5}">
                      <a16:colId xmlns:a16="http://schemas.microsoft.com/office/drawing/2014/main" val="2808881722"/>
                    </a:ext>
                  </a:extLst>
                </a:gridCol>
                <a:gridCol w="1985730">
                  <a:extLst>
                    <a:ext uri="{9D8B030D-6E8A-4147-A177-3AD203B41FA5}">
                      <a16:colId xmlns:a16="http://schemas.microsoft.com/office/drawing/2014/main" val="1013487018"/>
                    </a:ext>
                  </a:extLst>
                </a:gridCol>
              </a:tblGrid>
              <a:tr h="276275">
                <a:tc>
                  <a:txBody>
                    <a:bodyPr/>
                    <a:lstStyle/>
                    <a:p>
                      <a:r>
                        <a:rPr lang="en-IN" sz="1600" b="1" dirty="0"/>
                        <a:t>Website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Link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Why it is Useful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40340279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 dirty="0"/>
                        <a:t>GeeksforGeeks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4"/>
                        </a:rPr>
                        <a:t>https://www.geeksforgeeks.org/machine-learning/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Simple explanations, beginner-friendly content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95165974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 dirty="0"/>
                        <a:t>Wikipedia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5"/>
                        </a:rPr>
                        <a:t>https://en.wikipedia.org/wiki/Machine_learning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Reliable definitions and background knowledge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88373428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/>
                        <a:t>Analytics Vidhya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6"/>
                        </a:rPr>
                        <a:t>https://www.analyticsvidhya.com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Easy-to-understand ML explanations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40251479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/>
                        <a:t>Towards Data Science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linkClick r:id="rId7"/>
                        </a:rPr>
                        <a:t>https://towardsdatascience.com</a:t>
                      </a:r>
                      <a:endParaRPr lang="en-IN" sz="16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Real-world ML examples and insights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017535817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/>
                        <a:t>Kaggle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linkClick r:id="rId8"/>
                        </a:rPr>
                        <a:t>https://www.kaggle.com</a:t>
                      </a:r>
                      <a:endParaRPr lang="en-IN" sz="16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Best for practical examples and visuals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71103241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IN" sz="1600"/>
                        <a:t>Scikit-learn documentation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linkClick r:id="rId9"/>
                        </a:rPr>
                        <a:t>https://scikit-learn.org</a:t>
                      </a:r>
                      <a:endParaRPr lang="en-IN" sz="16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Accurate technical reference for ML models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17030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36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2372</Words>
  <Application>Microsoft Office PowerPoint</Application>
  <PresentationFormat>Widescreen</PresentationFormat>
  <Paragraphs>389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Unicode MS</vt:lpstr>
      <vt:lpstr>Calibri</vt:lpstr>
      <vt:lpstr>Calibri Light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user2</cp:lastModifiedBy>
  <cp:revision>89</cp:revision>
  <dcterms:created xsi:type="dcterms:W3CDTF">2026-05-21T06:29:53Z</dcterms:created>
  <dcterms:modified xsi:type="dcterms:W3CDTF">2026-07-13T08:32:05Z</dcterms:modified>
</cp:coreProperties>
</file>